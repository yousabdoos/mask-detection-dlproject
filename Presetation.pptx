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charts/chart3.xml" ContentType="application/vnd.openxmlformats-officedocument.drawingml.chart+xml"/>
  <Override PartName="/ppt/charts/chart4.xml" ContentType="application/vnd.openxmlformats-officedocument.drawingml.chart+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800" spc="-1" strike="noStrike">
                <a:solidFill>
                  <a:srgbClr val="000000"/>
                </a:solidFill>
                <a:latin typeface="Arial"/>
              </a:defRPr>
            </a:pPr>
            <a:r>
              <a:rPr b="0" sz="1800" spc="-1" strike="noStrike">
                <a:solidFill>
                  <a:srgbClr val="000000"/>
                </a:solidFill>
                <a:latin typeface="Arial"/>
              </a:rPr>
              <a:t>Loss Curve</a:t>
            </a:r>
          </a:p>
        </c:rich>
      </c:tx>
      <c:overlay val="0"/>
      <c:spPr>
        <a:noFill/>
        <a:ln w="0">
          <a:noFill/>
        </a:ln>
      </c:spPr>
    </c:title>
    <c:autoTitleDeleted val="0"/>
    <c:plotArea>
      <c:lineChart>
        <c:grouping val="standard"/>
        <c:varyColors val="0"/>
        <c:ser>
          <c:idx val="0"/>
          <c:order val="0"/>
          <c:tx>
            <c:strRef>
              <c:f>label 0</c:f>
              <c:strCache>
                <c:ptCount val="1"/>
                <c:pt idx="0">
                  <c:v>Train Loss</c:v>
                </c:pt>
              </c:strCache>
            </c:strRef>
          </c:tx>
          <c:spPr>
            <a:solidFill>
              <a:srgbClr val="4a90d9"/>
            </a:solidFill>
            <a:ln w="25560">
              <a:solidFill>
                <a:srgbClr val="4a90d9"/>
              </a:solidFill>
              <a:round/>
            </a:ln>
          </c:spPr>
          <c:marker>
            <c:symbol val="circle"/>
            <c:size val="6"/>
            <c:spPr>
              <a:solidFill>
                <a:srgbClr val="4a90d9"/>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1</c:v>
                </c:pt>
                <c:pt idx="1">
                  <c:v>2</c:v>
                </c:pt>
                <c:pt idx="2">
                  <c:v>3</c:v>
                </c:pt>
                <c:pt idx="3">
                  <c:v>4</c:v>
                </c:pt>
                <c:pt idx="4">
                  <c:v>5</c:v>
                </c:pt>
                <c:pt idx="5">
                  <c:v>6</c:v>
                </c:pt>
                <c:pt idx="6">
                  <c:v>7</c:v>
                </c:pt>
                <c:pt idx="7">
                  <c:v>8</c:v>
                </c:pt>
                <c:pt idx="8">
                  <c:v>9</c:v>
                </c:pt>
                <c:pt idx="9">
                  <c:v>10</c:v>
                </c:pt>
              </c:strCache>
            </c:strRef>
          </c:cat>
          <c:val>
            <c:numRef>
              <c:f>0</c:f>
              <c:numCache>
                <c:formatCode>General</c:formatCode>
                <c:ptCount val="10"/>
                <c:pt idx="0">
                  <c:v>0.52</c:v>
                </c:pt>
                <c:pt idx="1">
                  <c:v>0.38</c:v>
                </c:pt>
                <c:pt idx="2">
                  <c:v>0.28</c:v>
                </c:pt>
                <c:pt idx="3">
                  <c:v>0.22</c:v>
                </c:pt>
                <c:pt idx="4">
                  <c:v>0.17</c:v>
                </c:pt>
                <c:pt idx="5">
                  <c:v>0.14</c:v>
                </c:pt>
                <c:pt idx="6">
                  <c:v>0.12</c:v>
                </c:pt>
                <c:pt idx="7">
                  <c:v>0.1</c:v>
                </c:pt>
                <c:pt idx="8">
                  <c:v>0.09</c:v>
                </c:pt>
                <c:pt idx="9">
                  <c:v>0.08</c:v>
                </c:pt>
              </c:numCache>
            </c:numRef>
          </c:val>
          <c:smooth val="1"/>
        </c:ser>
        <c:ser>
          <c:idx val="1"/>
          <c:order val="1"/>
          <c:tx>
            <c:strRef>
              <c:f>label 1</c:f>
              <c:strCache>
                <c:ptCount val="1"/>
                <c:pt idx="0">
                  <c:v>Val Loss</c:v>
                </c:pt>
              </c:strCache>
            </c:strRef>
          </c:tx>
          <c:spPr>
            <a:solidFill>
              <a:srgbClr val="ef4444"/>
            </a:solidFill>
            <a:ln w="25560">
              <a:solidFill>
                <a:srgbClr val="ef4444"/>
              </a:solidFill>
              <a:round/>
            </a:ln>
          </c:spPr>
          <c:marker>
            <c:symbol val="circle"/>
            <c:size val="6"/>
            <c:spPr>
              <a:solidFill>
                <a:srgbClr val="ef4444"/>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1</c:v>
                </c:pt>
                <c:pt idx="1">
                  <c:v>2</c:v>
                </c:pt>
                <c:pt idx="2">
                  <c:v>3</c:v>
                </c:pt>
                <c:pt idx="3">
                  <c:v>4</c:v>
                </c:pt>
                <c:pt idx="4">
                  <c:v>5</c:v>
                </c:pt>
                <c:pt idx="5">
                  <c:v>6</c:v>
                </c:pt>
                <c:pt idx="6">
                  <c:v>7</c:v>
                </c:pt>
                <c:pt idx="7">
                  <c:v>8</c:v>
                </c:pt>
                <c:pt idx="8">
                  <c:v>9</c:v>
                </c:pt>
                <c:pt idx="9">
                  <c:v>10</c:v>
                </c:pt>
              </c:strCache>
            </c:strRef>
          </c:cat>
          <c:val>
            <c:numRef>
              <c:f>1</c:f>
              <c:numCache>
                <c:formatCode>General</c:formatCode>
                <c:ptCount val="10"/>
                <c:pt idx="0">
                  <c:v>0.45</c:v>
                </c:pt>
                <c:pt idx="1">
                  <c:v>0.33</c:v>
                </c:pt>
                <c:pt idx="2">
                  <c:v>0.25</c:v>
                </c:pt>
                <c:pt idx="3">
                  <c:v>0.2</c:v>
                </c:pt>
                <c:pt idx="4">
                  <c:v>0.17</c:v>
                </c:pt>
                <c:pt idx="5">
                  <c:v>0.15</c:v>
                </c:pt>
                <c:pt idx="6">
                  <c:v>0.14</c:v>
                </c:pt>
                <c:pt idx="7">
                  <c:v>0.13</c:v>
                </c:pt>
                <c:pt idx="8">
                  <c:v>0.13</c:v>
                </c:pt>
                <c:pt idx="9">
                  <c:v>0.13</c:v>
                </c:pt>
              </c:numCache>
            </c:numRef>
          </c:val>
          <c:smooth val="1"/>
        </c:ser>
        <c:hiLowLines>
          <c:spPr>
            <a:ln w="0">
              <a:noFill/>
            </a:ln>
          </c:spPr>
        </c:hiLowLines>
        <c:marker val="1"/>
        <c:axId val="80562792"/>
        <c:axId val="26886230"/>
      </c:lineChart>
      <c:catAx>
        <c:axId val="80562792"/>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64748b"/>
                </a:solidFill>
                <a:latin typeface="Arial"/>
              </a:defRPr>
            </a:pPr>
          </a:p>
        </c:txPr>
        <c:crossAx val="26886230"/>
        <c:crosses val="autoZero"/>
        <c:auto val="1"/>
        <c:lblAlgn val="ctr"/>
        <c:lblOffset val="100"/>
        <c:noMultiLvlLbl val="0"/>
      </c:catAx>
      <c:valAx>
        <c:axId val="26886230"/>
        <c:scaling>
          <c:orientation val="minMax"/>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b="0" sz="1200" spc="-1" strike="noStrike">
                <a:solidFill>
                  <a:srgbClr val="64748b"/>
                </a:solidFill>
                <a:latin typeface="Arial"/>
              </a:defRPr>
            </a:pPr>
          </a:p>
        </c:txPr>
        <c:crossAx val="80562792"/>
        <c:crosses val="autoZero"/>
        <c:crossBetween val="between"/>
      </c:valAx>
      <c:spPr>
        <a:noFill/>
        <a:ln w="0">
          <a:noFill/>
        </a:ln>
      </c:spPr>
    </c:plotArea>
    <c:legend>
      <c:legendPos val="b"/>
      <c:overlay val="0"/>
      <c:spPr>
        <a:noFill/>
        <a:ln w="0">
          <a:noFill/>
        </a:ln>
      </c:spPr>
      <c:txPr>
        <a:bodyPr/>
        <a:lstStyle/>
        <a:p>
          <a:pPr>
            <a:defRPr b="0" sz="1000" spc="-1" strike="noStrike">
              <a:solidFill>
                <a:srgbClr val="000000"/>
              </a:solidFill>
              <a:latin typeface="Calibri"/>
            </a:defRPr>
          </a:pPr>
        </a:p>
      </c:txPr>
    </c:legend>
    <c:plotVisOnly val="1"/>
    <c:dispBlanksAs val="span"/>
  </c:chart>
  <c:spPr>
    <a:solidFill>
      <a:srgbClr val="f8fafc"/>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800" spc="-1" strike="noStrike">
                <a:solidFill>
                  <a:srgbClr val="000000"/>
                </a:solidFill>
                <a:latin typeface="Arial"/>
              </a:defRPr>
            </a:pPr>
            <a:r>
              <a:rPr b="0" sz="1800" spc="-1" strike="noStrike">
                <a:solidFill>
                  <a:srgbClr val="000000"/>
                </a:solidFill>
                <a:latin typeface="Arial"/>
              </a:rPr>
              <a:t>Accuracy Curve</a:t>
            </a:r>
          </a:p>
        </c:rich>
      </c:tx>
      <c:overlay val="0"/>
      <c:spPr>
        <a:noFill/>
        <a:ln w="0">
          <a:noFill/>
        </a:ln>
      </c:spPr>
    </c:title>
    <c:autoTitleDeleted val="0"/>
    <c:plotArea>
      <c:lineChart>
        <c:grouping val="standard"/>
        <c:varyColors val="0"/>
        <c:ser>
          <c:idx val="0"/>
          <c:order val="0"/>
          <c:tx>
            <c:strRef>
              <c:f>label 0</c:f>
              <c:strCache>
                <c:ptCount val="1"/>
                <c:pt idx="0">
                  <c:v>Train Acc</c:v>
                </c:pt>
              </c:strCache>
            </c:strRef>
          </c:tx>
          <c:spPr>
            <a:solidFill>
              <a:srgbClr val="4a90d9"/>
            </a:solidFill>
            <a:ln w="25560">
              <a:solidFill>
                <a:srgbClr val="4a90d9"/>
              </a:solidFill>
              <a:round/>
            </a:ln>
          </c:spPr>
          <c:marker>
            <c:symbol val="circle"/>
            <c:size val="6"/>
            <c:spPr>
              <a:solidFill>
                <a:srgbClr val="4a90d9"/>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1</c:v>
                </c:pt>
                <c:pt idx="1">
                  <c:v>2</c:v>
                </c:pt>
                <c:pt idx="2">
                  <c:v>3</c:v>
                </c:pt>
                <c:pt idx="3">
                  <c:v>4</c:v>
                </c:pt>
                <c:pt idx="4">
                  <c:v>5</c:v>
                </c:pt>
                <c:pt idx="5">
                  <c:v>6</c:v>
                </c:pt>
                <c:pt idx="6">
                  <c:v>7</c:v>
                </c:pt>
                <c:pt idx="7">
                  <c:v>8</c:v>
                </c:pt>
                <c:pt idx="8">
                  <c:v>9</c:v>
                </c:pt>
                <c:pt idx="9">
                  <c:v>10</c:v>
                </c:pt>
              </c:strCache>
            </c:strRef>
          </c:cat>
          <c:val>
            <c:numRef>
              <c:f>0</c:f>
              <c:numCache>
                <c:formatCode>General</c:formatCode>
                <c:ptCount val="10"/>
                <c:pt idx="0">
                  <c:v>0.76</c:v>
                </c:pt>
                <c:pt idx="1">
                  <c:v>0.85</c:v>
                </c:pt>
                <c:pt idx="2">
                  <c:v>0.89</c:v>
                </c:pt>
                <c:pt idx="3">
                  <c:v>0.92</c:v>
                </c:pt>
                <c:pt idx="4">
                  <c:v>0.94</c:v>
                </c:pt>
                <c:pt idx="5">
                  <c:v>0.95</c:v>
                </c:pt>
                <c:pt idx="6">
                  <c:v>0.96</c:v>
                </c:pt>
                <c:pt idx="7">
                  <c:v>0.97</c:v>
                </c:pt>
                <c:pt idx="8">
                  <c:v>0.97</c:v>
                </c:pt>
                <c:pt idx="9">
                  <c:v>0.98</c:v>
                </c:pt>
              </c:numCache>
            </c:numRef>
          </c:val>
          <c:smooth val="1"/>
        </c:ser>
        <c:ser>
          <c:idx val="1"/>
          <c:order val="1"/>
          <c:tx>
            <c:strRef>
              <c:f>label 1</c:f>
              <c:strCache>
                <c:ptCount val="1"/>
                <c:pt idx="0">
                  <c:v>Val Acc</c:v>
                </c:pt>
              </c:strCache>
            </c:strRef>
          </c:tx>
          <c:spPr>
            <a:solidFill>
              <a:srgbClr val="22c55e"/>
            </a:solidFill>
            <a:ln w="25560">
              <a:solidFill>
                <a:srgbClr val="22c55e"/>
              </a:solidFill>
              <a:round/>
            </a:ln>
          </c:spPr>
          <c:marker>
            <c:symbol val="circle"/>
            <c:size val="6"/>
            <c:spPr>
              <a:solidFill>
                <a:srgbClr val="22c55e"/>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1</c:v>
                </c:pt>
                <c:pt idx="1">
                  <c:v>2</c:v>
                </c:pt>
                <c:pt idx="2">
                  <c:v>3</c:v>
                </c:pt>
                <c:pt idx="3">
                  <c:v>4</c:v>
                </c:pt>
                <c:pt idx="4">
                  <c:v>5</c:v>
                </c:pt>
                <c:pt idx="5">
                  <c:v>6</c:v>
                </c:pt>
                <c:pt idx="6">
                  <c:v>7</c:v>
                </c:pt>
                <c:pt idx="7">
                  <c:v>8</c:v>
                </c:pt>
                <c:pt idx="8">
                  <c:v>9</c:v>
                </c:pt>
                <c:pt idx="9">
                  <c:v>10</c:v>
                </c:pt>
              </c:strCache>
            </c:strRef>
          </c:cat>
          <c:val>
            <c:numRef>
              <c:f>1</c:f>
              <c:numCache>
                <c:formatCode>General</c:formatCode>
                <c:ptCount val="10"/>
                <c:pt idx="0">
                  <c:v>0.82</c:v>
                </c:pt>
                <c:pt idx="1">
                  <c:v>0.88</c:v>
                </c:pt>
                <c:pt idx="2">
                  <c:v>0.91</c:v>
                </c:pt>
                <c:pt idx="3">
                  <c:v>0.93</c:v>
                </c:pt>
                <c:pt idx="4">
                  <c:v>0.94</c:v>
                </c:pt>
                <c:pt idx="5">
                  <c:v>0.95</c:v>
                </c:pt>
                <c:pt idx="6">
                  <c:v>0.95</c:v>
                </c:pt>
                <c:pt idx="7">
                  <c:v>0.96</c:v>
                </c:pt>
                <c:pt idx="8">
                  <c:v>0.96</c:v>
                </c:pt>
                <c:pt idx="9">
                  <c:v>0.96</c:v>
                </c:pt>
              </c:numCache>
            </c:numRef>
          </c:val>
          <c:smooth val="1"/>
        </c:ser>
        <c:hiLowLines>
          <c:spPr>
            <a:ln w="0">
              <a:noFill/>
            </a:ln>
          </c:spPr>
        </c:hiLowLines>
        <c:marker val="1"/>
        <c:axId val="66723765"/>
        <c:axId val="29316855"/>
      </c:lineChart>
      <c:catAx>
        <c:axId val="6672376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64748b"/>
                </a:solidFill>
                <a:latin typeface="Arial"/>
              </a:defRPr>
            </a:pPr>
          </a:p>
        </c:txPr>
        <c:crossAx val="29316855"/>
        <c:crosses val="autoZero"/>
        <c:auto val="1"/>
        <c:lblAlgn val="ctr"/>
        <c:lblOffset val="100"/>
        <c:noMultiLvlLbl val="0"/>
      </c:catAx>
      <c:valAx>
        <c:axId val="29316855"/>
        <c:scaling>
          <c:orientation val="minMax"/>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b="0" sz="1200" spc="-1" strike="noStrike">
                <a:solidFill>
                  <a:srgbClr val="64748b"/>
                </a:solidFill>
                <a:latin typeface="Arial"/>
              </a:defRPr>
            </a:pPr>
          </a:p>
        </c:txPr>
        <c:crossAx val="66723765"/>
        <c:crosses val="autoZero"/>
        <c:crossBetween val="between"/>
      </c:valAx>
      <c:spPr>
        <a:noFill/>
        <a:ln w="0">
          <a:noFill/>
        </a:ln>
      </c:spPr>
    </c:plotArea>
    <c:legend>
      <c:legendPos val="b"/>
      <c:overlay val="0"/>
      <c:spPr>
        <a:noFill/>
        <a:ln w="0">
          <a:noFill/>
        </a:ln>
      </c:spPr>
      <c:txPr>
        <a:bodyPr/>
        <a:lstStyle/>
        <a:p>
          <a:pPr>
            <a:defRPr b="0" sz="1000" spc="-1" strike="noStrike">
              <a:solidFill>
                <a:srgbClr val="000000"/>
              </a:solidFill>
              <a:latin typeface="Calibri"/>
            </a:defRPr>
          </a:pPr>
        </a:p>
      </c:txPr>
    </c:legend>
    <c:plotVisOnly val="1"/>
    <c:dispBlanksAs val="span"/>
  </c:chart>
  <c:spPr>
    <a:solidFill>
      <a:srgbClr val="f8fafc"/>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A328456-4243-41A2-918F-2C911EAF8C0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41"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86003479-DCC0-4C22-B56B-6CCEC1D0292E}"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685800" y="1143000"/>
            <a:ext cx="5486040" cy="308592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44"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BF1CF00C-776E-4D0C-9B8F-D1E6491007DE}"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685800" y="1143000"/>
            <a:ext cx="5486040" cy="308592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47"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F89DC075-E568-408F-A78E-E6891CAB302F}"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50"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02047BD0-A0F3-44E7-AF0F-D7CC33AC10BD}"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53"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1BD049C6-B2E8-42E4-A878-8B34C1472B4A}"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56"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1B9481E2-A5B1-4F3C-96E8-CC57C0C2319C}"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59"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EDC2B106-28C4-4C2F-BF54-E93E9B8C0220}"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62"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9C31B1BF-1B97-466B-B3EA-EA0CF0AC614E}"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65"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BDC686EA-BD5E-4861-BC1E-286DC07AA901}"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68"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2700D13D-2D51-4D5B-A3BB-65BA51930D66}"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71"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A2676950-07E2-4DD7-AA8E-B627EA90A788}"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74"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9BFC7B65-7024-4B59-84AC-5BA139C3635D}"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en-US" sz="1800" spc="-1" strike="noStrike">
              <a:solidFill>
                <a:srgbClr val="000000"/>
              </a:solidFill>
              <a:latin typeface="Arial"/>
            </a:endParaRPr>
          </a:p>
        </p:txBody>
      </p:sp>
      <p:sp>
        <p:nvSpPr>
          <p:cNvPr id="377"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40B456BC-A289-4E3C-8CB6-A6A3C15E531B}" type="slidenum">
              <a:rPr b="0" lang="en-US" sz="1200" spc="-1" strike="noStrike">
                <a:solidFill>
                  <a:srgbClr val="000000"/>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44" name="Shape 0"/>
          <p:cNvSpPr/>
          <p:nvPr/>
        </p:nvSpPr>
        <p:spPr>
          <a:xfrm>
            <a:off x="0" y="0"/>
            <a:ext cx="9143640" cy="72720"/>
          </a:xfrm>
          <a:prstGeom prst="rect">
            <a:avLst/>
          </a:prstGeom>
          <a:solidFill>
            <a:srgbClr val="4a90d9"/>
          </a:solidFill>
          <a:ln w="12700">
            <a:solidFill>
              <a:srgbClr val="4a90d9"/>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45" name="Text 2"/>
          <p:cNvSpPr/>
          <p:nvPr/>
        </p:nvSpPr>
        <p:spPr>
          <a:xfrm>
            <a:off x="3886200" y="640080"/>
            <a:ext cx="1371240" cy="1371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Arial"/>
            </a:endParaRPr>
          </a:p>
        </p:txBody>
      </p:sp>
      <p:sp>
        <p:nvSpPr>
          <p:cNvPr id="46" name="Text 3"/>
          <p:cNvSpPr/>
          <p:nvPr/>
        </p:nvSpPr>
        <p:spPr>
          <a:xfrm>
            <a:off x="457200" y="1828800"/>
            <a:ext cx="8229240" cy="8226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4000" spc="-1" strike="noStrike">
                <a:solidFill>
                  <a:srgbClr val="ffffff"/>
                </a:solidFill>
                <a:latin typeface="Calibri"/>
              </a:rPr>
              <a:t>Face Mask Detection</a:t>
            </a:r>
            <a:endParaRPr b="0" lang="en-US" sz="4000" spc="-1" strike="noStrike">
              <a:solidFill>
                <a:srgbClr val="ffffff"/>
              </a:solidFill>
              <a:latin typeface="Arial"/>
            </a:endParaRPr>
          </a:p>
        </p:txBody>
      </p:sp>
      <p:sp>
        <p:nvSpPr>
          <p:cNvPr id="47" name="Text 4"/>
          <p:cNvSpPr/>
          <p:nvPr/>
        </p:nvSpPr>
        <p:spPr>
          <a:xfrm>
            <a:off x="457200" y="3063240"/>
            <a:ext cx="82292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Arial"/>
            </a:endParaRPr>
          </a:p>
        </p:txBody>
      </p:sp>
      <p:sp>
        <p:nvSpPr>
          <p:cNvPr id="48" name="Text 5"/>
          <p:cNvSpPr/>
          <p:nvPr/>
        </p:nvSpPr>
        <p:spPr>
          <a:xfrm>
            <a:off x="457560" y="2651400"/>
            <a:ext cx="8229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i="1" lang="en-US" sz="1300" spc="-1" strike="noStrike">
                <a:solidFill>
                  <a:srgbClr val="4a90d9"/>
                </a:solidFill>
                <a:latin typeface="Calibri"/>
              </a:rPr>
              <a:t>MobileNetV2  |  Transfer Learning  |  12,000 Images  |  FastAPI  |  Docker</a:t>
            </a:r>
            <a:endParaRPr b="0" lang="en-US" sz="1300" spc="-1" strike="noStrike">
              <a:solidFill>
                <a:srgbClr val="ffffff"/>
              </a:solidFill>
              <a:latin typeface="Arial"/>
            </a:endParaRPr>
          </a:p>
        </p:txBody>
      </p:sp>
      <p:sp>
        <p:nvSpPr>
          <p:cNvPr id="49" name="Shape 6"/>
          <p:cNvSpPr/>
          <p:nvPr/>
        </p:nvSpPr>
        <p:spPr>
          <a:xfrm>
            <a:off x="0" y="4846320"/>
            <a:ext cx="9143640" cy="297000"/>
          </a:xfrm>
          <a:prstGeom prst="rect">
            <a:avLst/>
          </a:prstGeom>
          <a:solidFill>
            <a:srgbClr val="1a1a2e"/>
          </a:solidFill>
          <a:ln w="12700">
            <a:solidFill>
              <a:srgbClr val="1a1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 name="Text 7"/>
          <p:cNvSpPr/>
          <p:nvPr/>
        </p:nvSpPr>
        <p:spPr>
          <a:xfrm>
            <a:off x="0" y="4846320"/>
            <a:ext cx="9143640" cy="297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cadcfc"/>
                </a:solidFill>
                <a:latin typeface="Calibri"/>
              </a:rPr>
              <a:t>Deep Learning Project  —  2026</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Abstract</a:t>
            </a:r>
            <a:endParaRPr b="0" lang="en-US" sz="2200" spc="-1" strike="noStrike">
              <a:solidFill>
                <a:srgbClr val="000000"/>
              </a:solidFill>
              <a:latin typeface="Arial"/>
            </a:endParaRPr>
          </a:p>
        </p:txBody>
      </p:sp>
      <p:sp>
        <p:nvSpPr>
          <p:cNvPr id="53" name="Shape 2"/>
          <p:cNvSpPr/>
          <p:nvPr/>
        </p:nvSpPr>
        <p:spPr>
          <a:xfrm>
            <a:off x="365760" y="777240"/>
            <a:ext cx="8412120" cy="23313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Shape 3"/>
          <p:cNvSpPr/>
          <p:nvPr/>
        </p:nvSpPr>
        <p:spPr>
          <a:xfrm>
            <a:off x="365760" y="777240"/>
            <a:ext cx="63720" cy="233136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Text 4"/>
          <p:cNvSpPr/>
          <p:nvPr/>
        </p:nvSpPr>
        <p:spPr>
          <a:xfrm>
            <a:off x="548640" y="841320"/>
            <a:ext cx="8046360" cy="2194200"/>
          </a:xfrm>
          <a:prstGeom prst="rect">
            <a:avLst/>
          </a:prstGeom>
          <a:noFill/>
          <a:ln w="0">
            <a:noFill/>
          </a:ln>
        </p:spPr>
        <p:style>
          <a:lnRef idx="0"/>
          <a:fillRef idx="0"/>
          <a:effectRef idx="0"/>
          <a:fontRef idx="minor"/>
        </p:style>
        <p:txBody>
          <a:bodyPr lIns="90000" rIns="90000" tIns="45000" bIns="45000" anchor="t">
            <a:noAutofit/>
          </a:bodyPr>
          <a:p>
            <a:pPr>
              <a:lnSpc>
                <a:spcPct val="100000"/>
              </a:lnSpc>
              <a:spcAft>
                <a:spcPts val="400"/>
              </a:spcAft>
              <a:tabLst>
                <a:tab algn="l" pos="0"/>
              </a:tabLst>
            </a:pPr>
            <a:r>
              <a:rPr b="0" lang="en-US" sz="1300" spc="-1" strike="noStrike">
                <a:solidFill>
                  <a:srgbClr val="1a1a2e"/>
                </a:solidFill>
                <a:latin typeface="Calibri"/>
              </a:rPr>
              <a:t>This project presents an end-to-end AI-powered face mask detection system built on MobileNetV2 with transfer learning. The system addresses a real-world public health challenge: automatically screening individuals at building entrances to verify mask compliance, without requiring manual human enforcement. Rather than building a convolutional network from scratch, we leverage MobileNetV2 — a lightweight CNN pre-trained on ImageNet — and retrain only its final classification layer to distinguish between masked and unmasked faces. The trained model is wrapped in a FastAPI application that accepts live webcam captures or image uploads, detects the face region using OpenCV, and returns a structured decision: status, recommended action, and confidence score. The full system is containerized with Docker for production-ready deployment.</a:t>
            </a:r>
            <a:endParaRPr b="0" lang="en-US" sz="1300" spc="-1" strike="noStrike">
              <a:solidFill>
                <a:srgbClr val="000000"/>
              </a:solidFill>
              <a:latin typeface="Arial"/>
            </a:endParaRPr>
          </a:p>
        </p:txBody>
      </p:sp>
      <p:sp>
        <p:nvSpPr>
          <p:cNvPr id="56" name="Shape 5"/>
          <p:cNvSpPr/>
          <p:nvPr/>
        </p:nvSpPr>
        <p:spPr>
          <a:xfrm>
            <a:off x="365760" y="3291840"/>
            <a:ext cx="2559960" cy="15084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6"/>
          <p:cNvSpPr/>
          <p:nvPr/>
        </p:nvSpPr>
        <p:spPr>
          <a:xfrm>
            <a:off x="365760" y="3337560"/>
            <a:ext cx="255996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200" spc="-1" strike="noStrike">
                <a:solidFill>
                  <a:srgbClr val="ffffff"/>
                </a:solidFill>
                <a:latin typeface="Calibri"/>
              </a:rPr>
              <a:t>CNN</a:t>
            </a:r>
            <a:endParaRPr b="0" lang="en-US" sz="2200" spc="-1" strike="noStrike">
              <a:solidFill>
                <a:srgbClr val="000000"/>
              </a:solidFill>
              <a:latin typeface="Arial"/>
            </a:endParaRPr>
          </a:p>
        </p:txBody>
      </p:sp>
      <p:sp>
        <p:nvSpPr>
          <p:cNvPr id="58" name="Text 7"/>
          <p:cNvSpPr/>
          <p:nvPr/>
        </p:nvSpPr>
        <p:spPr>
          <a:xfrm>
            <a:off x="365760" y="384048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4a90d9"/>
                </a:solidFill>
                <a:latin typeface="Calibri"/>
              </a:rPr>
              <a:t>Architecture</a:t>
            </a:r>
            <a:endParaRPr b="0" lang="en-US" sz="1100" spc="-1" strike="noStrike">
              <a:solidFill>
                <a:srgbClr val="000000"/>
              </a:solidFill>
              <a:latin typeface="Arial"/>
            </a:endParaRPr>
          </a:p>
        </p:txBody>
      </p:sp>
      <p:sp>
        <p:nvSpPr>
          <p:cNvPr id="59" name="Text 8"/>
          <p:cNvSpPr/>
          <p:nvPr/>
        </p:nvSpPr>
        <p:spPr>
          <a:xfrm>
            <a:off x="365760" y="41148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cadcfc"/>
                </a:solidFill>
                <a:latin typeface="Calibri"/>
              </a:rPr>
              <a:t>Transfer Learning</a:t>
            </a:r>
            <a:endParaRPr b="0" lang="en-US" sz="1100" spc="-1" strike="noStrike">
              <a:solidFill>
                <a:srgbClr val="000000"/>
              </a:solidFill>
              <a:latin typeface="Arial"/>
            </a:endParaRPr>
          </a:p>
          <a:p>
            <a:pPr algn="ctr">
              <a:lnSpc>
                <a:spcPct val="100000"/>
              </a:lnSpc>
              <a:tabLst>
                <a:tab algn="l" pos="0"/>
              </a:tabLst>
            </a:pPr>
            <a:r>
              <a:rPr b="0" lang="en-US" sz="1100" spc="-1" strike="noStrike">
                <a:solidFill>
                  <a:srgbClr val="cadcfc"/>
                </a:solidFill>
                <a:latin typeface="Calibri"/>
              </a:rPr>
              <a:t>with MobileNetV2</a:t>
            </a:r>
            <a:endParaRPr b="0" lang="en-US" sz="1100" spc="-1" strike="noStrike">
              <a:solidFill>
                <a:srgbClr val="000000"/>
              </a:solidFill>
              <a:latin typeface="Arial"/>
            </a:endParaRPr>
          </a:p>
        </p:txBody>
      </p:sp>
      <p:sp>
        <p:nvSpPr>
          <p:cNvPr id="60" name="Shape 9"/>
          <p:cNvSpPr/>
          <p:nvPr/>
        </p:nvSpPr>
        <p:spPr>
          <a:xfrm>
            <a:off x="3200400" y="3291840"/>
            <a:ext cx="2559960" cy="15084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 name="Text 10"/>
          <p:cNvSpPr/>
          <p:nvPr/>
        </p:nvSpPr>
        <p:spPr>
          <a:xfrm>
            <a:off x="3200400" y="3337560"/>
            <a:ext cx="255996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200" spc="-1" strike="noStrike">
                <a:solidFill>
                  <a:srgbClr val="ffffff"/>
                </a:solidFill>
                <a:latin typeface="Calibri"/>
              </a:rPr>
              <a:t>96%</a:t>
            </a:r>
            <a:endParaRPr b="0" lang="en-US" sz="2200" spc="-1" strike="noStrike">
              <a:solidFill>
                <a:srgbClr val="000000"/>
              </a:solidFill>
              <a:latin typeface="Arial"/>
            </a:endParaRPr>
          </a:p>
        </p:txBody>
      </p:sp>
      <p:sp>
        <p:nvSpPr>
          <p:cNvPr id="62" name="Text 11"/>
          <p:cNvSpPr/>
          <p:nvPr/>
        </p:nvSpPr>
        <p:spPr>
          <a:xfrm>
            <a:off x="3200400" y="384048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4a90d9"/>
                </a:solidFill>
                <a:latin typeface="Calibri"/>
              </a:rPr>
              <a:t>Accuracy</a:t>
            </a:r>
            <a:endParaRPr b="0" lang="en-US" sz="1100" spc="-1" strike="noStrike">
              <a:solidFill>
                <a:srgbClr val="000000"/>
              </a:solidFill>
              <a:latin typeface="Arial"/>
            </a:endParaRPr>
          </a:p>
        </p:txBody>
      </p:sp>
      <p:sp>
        <p:nvSpPr>
          <p:cNvPr id="63" name="Text 12"/>
          <p:cNvSpPr/>
          <p:nvPr/>
        </p:nvSpPr>
        <p:spPr>
          <a:xfrm>
            <a:off x="3200400" y="41148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cadcfc"/>
                </a:solidFill>
                <a:latin typeface="Calibri"/>
              </a:rPr>
              <a:t>Validated on held-out</a:t>
            </a:r>
            <a:endParaRPr b="0" lang="en-US" sz="1100" spc="-1" strike="noStrike">
              <a:solidFill>
                <a:srgbClr val="000000"/>
              </a:solidFill>
              <a:latin typeface="Arial"/>
            </a:endParaRPr>
          </a:p>
          <a:p>
            <a:pPr algn="ctr">
              <a:lnSpc>
                <a:spcPct val="100000"/>
              </a:lnSpc>
              <a:tabLst>
                <a:tab algn="l" pos="0"/>
              </a:tabLst>
            </a:pPr>
            <a:r>
              <a:rPr b="0" lang="en-US" sz="1100" spc="-1" strike="noStrike">
                <a:solidFill>
                  <a:srgbClr val="cadcfc"/>
                </a:solidFill>
                <a:latin typeface="Calibri"/>
              </a:rPr>
              <a:t>test set</a:t>
            </a:r>
            <a:endParaRPr b="0" lang="en-US" sz="1100" spc="-1" strike="noStrike">
              <a:solidFill>
                <a:srgbClr val="000000"/>
              </a:solidFill>
              <a:latin typeface="Arial"/>
            </a:endParaRPr>
          </a:p>
        </p:txBody>
      </p:sp>
      <p:sp>
        <p:nvSpPr>
          <p:cNvPr id="64" name="Shape 13"/>
          <p:cNvSpPr/>
          <p:nvPr/>
        </p:nvSpPr>
        <p:spPr>
          <a:xfrm>
            <a:off x="6035040" y="3291840"/>
            <a:ext cx="2559960" cy="15084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 name="Text 14"/>
          <p:cNvSpPr/>
          <p:nvPr/>
        </p:nvSpPr>
        <p:spPr>
          <a:xfrm>
            <a:off x="6035040" y="3337560"/>
            <a:ext cx="255996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200" spc="-1" strike="noStrike">
                <a:solidFill>
                  <a:srgbClr val="ffffff"/>
                </a:solidFill>
                <a:latin typeface="Calibri"/>
              </a:rPr>
              <a:t>API</a:t>
            </a:r>
            <a:endParaRPr b="0" lang="en-US" sz="2200" spc="-1" strike="noStrike">
              <a:solidFill>
                <a:srgbClr val="000000"/>
              </a:solidFill>
              <a:latin typeface="Arial"/>
            </a:endParaRPr>
          </a:p>
        </p:txBody>
      </p:sp>
      <p:sp>
        <p:nvSpPr>
          <p:cNvPr id="66" name="Text 15"/>
          <p:cNvSpPr/>
          <p:nvPr/>
        </p:nvSpPr>
        <p:spPr>
          <a:xfrm>
            <a:off x="6035040" y="384048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4a90d9"/>
                </a:solidFill>
                <a:latin typeface="Calibri"/>
              </a:rPr>
              <a:t>Deployment</a:t>
            </a:r>
            <a:endParaRPr b="0" lang="en-US" sz="1100" spc="-1" strike="noStrike">
              <a:solidFill>
                <a:srgbClr val="000000"/>
              </a:solidFill>
              <a:latin typeface="Arial"/>
            </a:endParaRPr>
          </a:p>
        </p:txBody>
      </p:sp>
      <p:sp>
        <p:nvSpPr>
          <p:cNvPr id="67" name="Text 16"/>
          <p:cNvSpPr/>
          <p:nvPr/>
        </p:nvSpPr>
        <p:spPr>
          <a:xfrm>
            <a:off x="6035040" y="41148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cadcfc"/>
                </a:solidFill>
                <a:latin typeface="Calibri"/>
              </a:rPr>
              <a:t>FastAPI + Docker</a:t>
            </a:r>
            <a:endParaRPr b="0" lang="en-US" sz="1100" spc="-1" strike="noStrike">
              <a:solidFill>
                <a:srgbClr val="000000"/>
              </a:solidFill>
              <a:latin typeface="Arial"/>
            </a:endParaRPr>
          </a:p>
          <a:p>
            <a:pPr algn="ctr">
              <a:lnSpc>
                <a:spcPct val="100000"/>
              </a:lnSpc>
              <a:tabLst>
                <a:tab algn="l" pos="0"/>
              </a:tabLst>
            </a:pPr>
            <a:r>
              <a:rPr b="0" lang="en-US" sz="1100" spc="-1" strike="noStrike">
                <a:solidFill>
                  <a:srgbClr val="cadcfc"/>
                </a:solidFill>
                <a:latin typeface="Calibri"/>
              </a:rPr>
              <a:t>production ready</a:t>
            </a:r>
            <a:endParaRPr b="0" lang="en-US" sz="1100" spc="-1" strike="noStrike">
              <a:solidFill>
                <a:srgbClr val="000000"/>
              </a:solidFill>
              <a:latin typeface="Arial"/>
            </a:endParaRPr>
          </a:p>
        </p:txBody>
      </p:sp>
      <p:sp>
        <p:nvSpPr>
          <p:cNvPr id="68" name="Text 17"/>
          <p:cNvSpPr/>
          <p:nvPr/>
        </p:nvSpPr>
        <p:spPr>
          <a:xfrm>
            <a:off x="365760" y="4919400"/>
            <a:ext cx="841212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i="1" lang="en-US" sz="900" spc="-1" strike="noStrike">
                <a:solidFill>
                  <a:srgbClr val="64748b"/>
                </a:solidFill>
                <a:latin typeface="Calibri"/>
              </a:rPr>
              <a:t>Dataset: Kaggle — Face Mask Detection ~12K Images (Ashish Jangra, 2020)  |  kaggle.com/datasets/ashishjangra27/face-mask-12k-images-dataset</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Prior Work on This Dataset</a:t>
            </a:r>
            <a:endParaRPr b="0" lang="en-US" sz="2200" spc="-1" strike="noStrike">
              <a:solidFill>
                <a:srgbClr val="000000"/>
              </a:solidFill>
              <a:latin typeface="Arial"/>
            </a:endParaRPr>
          </a:p>
        </p:txBody>
      </p:sp>
      <p:sp>
        <p:nvSpPr>
          <p:cNvPr id="71" name="Text 2"/>
          <p:cNvSpPr/>
          <p:nvPr/>
        </p:nvSpPr>
        <p:spPr>
          <a:xfrm>
            <a:off x="365760" y="749880"/>
            <a:ext cx="841212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200" spc="-1" strike="noStrike">
                <a:solidFill>
                  <a:srgbClr val="64748b"/>
                </a:solidFill>
                <a:latin typeface="Calibri"/>
              </a:rPr>
              <a:t>What others achieved on Kaggle Face Mask 12K — and what we observed:</a:t>
            </a:r>
            <a:endParaRPr b="0" lang="en-US" sz="1200" spc="-1" strike="noStrike">
              <a:solidFill>
                <a:srgbClr val="000000"/>
              </a:solidFill>
              <a:latin typeface="Arial"/>
            </a:endParaRPr>
          </a:p>
        </p:txBody>
      </p:sp>
      <p:graphicFrame>
        <p:nvGraphicFramePr>
          <p:cNvPr id="72" name="Table 0"/>
          <p:cNvGraphicFramePr/>
          <p:nvPr/>
        </p:nvGraphicFramePr>
        <p:xfrm>
          <a:off x="365760" y="1097280"/>
          <a:ext cx="8412120" cy="2286000"/>
        </p:xfrm>
        <a:graphic>
          <a:graphicData uri="http://schemas.openxmlformats.org/drawingml/2006/table">
            <a:tbl>
              <a:tblPr/>
              <a:tblGrid>
                <a:gridCol w="1645920"/>
                <a:gridCol w="1280160"/>
                <a:gridCol w="1097280"/>
                <a:gridCol w="1097280"/>
                <a:gridCol w="3291840"/>
              </a:tblGrid>
              <a:tr h="457200">
                <a:tc>
                  <a:txBody>
                    <a:bodyPr anchor="t">
                      <a:noAutofit/>
                    </a:bodyPr>
                    <a:p>
                      <a:pPr algn="ctr">
                        <a:lnSpc>
                          <a:spcPct val="100000"/>
                        </a:lnSpc>
                        <a:tabLst>
                          <a:tab algn="l" pos="0"/>
                        </a:tabLst>
                      </a:pPr>
                      <a:r>
                        <a:rPr b="1" lang="en-US" sz="1200" spc="-1" strike="noStrike">
                          <a:solidFill>
                            <a:srgbClr val="ffffff"/>
                          </a:solidFill>
                          <a:latin typeface="Calibri"/>
                        </a:rPr>
                        <a:t>Model</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gn="ctr">
                        <a:lnSpc>
                          <a:spcPct val="100000"/>
                        </a:lnSpc>
                        <a:tabLst>
                          <a:tab algn="l" pos="0"/>
                        </a:tabLst>
                      </a:pPr>
                      <a:r>
                        <a:rPr b="1" lang="en-US" sz="1200" spc="-1" strike="noStrike">
                          <a:solidFill>
                            <a:srgbClr val="ffffff"/>
                          </a:solidFill>
                          <a:latin typeface="Calibri"/>
                        </a:rPr>
                        <a:t>Framework</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gn="ctr">
                        <a:lnSpc>
                          <a:spcPct val="100000"/>
                        </a:lnSpc>
                        <a:tabLst>
                          <a:tab algn="l" pos="0"/>
                        </a:tabLst>
                      </a:pPr>
                      <a:r>
                        <a:rPr b="1" lang="en-US" sz="1200" spc="-1" strike="noStrike">
                          <a:solidFill>
                            <a:srgbClr val="ffffff"/>
                          </a:solidFill>
                          <a:latin typeface="Calibri"/>
                        </a:rPr>
                        <a:t>Train Acc</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gn="ctr">
                        <a:lnSpc>
                          <a:spcPct val="100000"/>
                        </a:lnSpc>
                        <a:tabLst>
                          <a:tab algn="l" pos="0"/>
                        </a:tabLst>
                      </a:pPr>
                      <a:r>
                        <a:rPr b="1" lang="en-US" sz="1200" spc="-1" strike="noStrike">
                          <a:solidFill>
                            <a:srgbClr val="ffffff"/>
                          </a:solidFill>
                          <a:latin typeface="Calibri"/>
                        </a:rPr>
                        <a:t>Val / Test</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gn="ctr">
                        <a:lnSpc>
                          <a:spcPct val="100000"/>
                        </a:lnSpc>
                        <a:tabLst>
                          <a:tab algn="l" pos="0"/>
                        </a:tabLst>
                      </a:pPr>
                      <a:r>
                        <a:rPr b="1" lang="en-US" sz="1200" spc="-1" strike="noStrike">
                          <a:solidFill>
                            <a:srgbClr val="ffffff"/>
                          </a:solidFill>
                          <a:latin typeface="Calibri"/>
                        </a:rPr>
                        <a:t>Note</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r>
              <a:tr h="457200">
                <a:tc>
                  <a:txBody>
                    <a:bodyPr anchor="t">
                      <a:noAutofit/>
                    </a:bodyPr>
                    <a:p>
                      <a:pPr>
                        <a:lnSpc>
                          <a:spcPct val="100000"/>
                        </a:lnSpc>
                        <a:tabLst>
                          <a:tab algn="l" pos="0"/>
                        </a:tabLst>
                      </a:pPr>
                      <a:r>
                        <a:rPr b="1" lang="en-US" sz="1100" spc="-1" strike="noStrike">
                          <a:solidFill>
                            <a:srgbClr val="1a1a2e"/>
                          </a:solidFill>
                          <a:latin typeface="Calibri"/>
                        </a:rPr>
                        <a:t>VGG19</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100" spc="-1" strike="noStrike">
                          <a:solidFill>
                            <a:srgbClr val="1a1a2e"/>
                          </a:solidFill>
                          <a:latin typeface="Calibri"/>
                        </a:rPr>
                        <a:t>Keras</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1" lang="en-US" sz="1100" spc="-1" strike="noStrike">
                          <a:solidFill>
                            <a:srgbClr val="f59e0b"/>
                          </a:solidFill>
                          <a:latin typeface="Calibri"/>
                        </a:rPr>
                        <a:t>100%</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0" lang="en-US" sz="1100" spc="-1" strike="noStrike">
                          <a:solidFill>
                            <a:srgbClr val="1a1a2e"/>
                          </a:solidFill>
                          <a:latin typeface="Calibri"/>
                        </a:rPr>
                        <a:t>~99%</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i="1" lang="en-US" sz="1000" spc="-1" strike="noStrike">
                          <a:solidFill>
                            <a:srgbClr val="64748b"/>
                          </a:solidFill>
                          <a:latin typeface="Calibri"/>
                        </a:rPr>
                        <a:t>Likely shortcut learning — dataset too clean</a:t>
                      </a:r>
                      <a:endParaRPr b="0" lang="en-US" sz="10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r h="457200">
                <a:tc>
                  <a:txBody>
                    <a:bodyPr anchor="t">
                      <a:noAutofit/>
                    </a:bodyPr>
                    <a:p>
                      <a:pPr>
                        <a:lnSpc>
                          <a:spcPct val="100000"/>
                        </a:lnSpc>
                        <a:tabLst>
                          <a:tab algn="l" pos="0"/>
                        </a:tabLst>
                      </a:pPr>
                      <a:r>
                        <a:rPr b="1" lang="en-US" sz="1100" spc="-1" strike="noStrike">
                          <a:solidFill>
                            <a:srgbClr val="1a1a2e"/>
                          </a:solidFill>
                          <a:latin typeface="Calibri"/>
                        </a:rPr>
                        <a:t>VGG16</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100" spc="-1" strike="noStrike">
                          <a:solidFill>
                            <a:srgbClr val="1a1a2e"/>
                          </a:solidFill>
                          <a:latin typeface="Calibri"/>
                        </a:rPr>
                        <a:t>TensorFlow</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1" lang="en-US" sz="1100" spc="-1" strike="noStrike">
                          <a:solidFill>
                            <a:srgbClr val="f59e0b"/>
                          </a:solidFill>
                          <a:latin typeface="Calibri"/>
                        </a:rPr>
                        <a:t>99%</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0" lang="en-US" sz="1100" spc="-1" strike="noStrike">
                          <a:solidFill>
                            <a:srgbClr val="1a1a2e"/>
                          </a:solidFill>
                          <a:latin typeface="Calibri"/>
                        </a:rPr>
                        <a:t>98%</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i="1" lang="en-US" sz="1000" spc="-1" strike="noStrike">
                          <a:solidFill>
                            <a:srgbClr val="64748b"/>
                          </a:solidFill>
                          <a:latin typeface="Calibri"/>
                        </a:rPr>
                        <a:t>Signs of overfitting after epoch 6</a:t>
                      </a:r>
                      <a:endParaRPr b="0" lang="en-US" sz="10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r h="457200">
                <a:tc>
                  <a:txBody>
                    <a:bodyPr anchor="t">
                      <a:noAutofit/>
                    </a:bodyPr>
                    <a:p>
                      <a:pPr>
                        <a:lnSpc>
                          <a:spcPct val="100000"/>
                        </a:lnSpc>
                        <a:tabLst>
                          <a:tab algn="l" pos="0"/>
                        </a:tabLst>
                      </a:pPr>
                      <a:r>
                        <a:rPr b="1" lang="en-US" sz="1100" spc="-1" strike="noStrike">
                          <a:solidFill>
                            <a:srgbClr val="1a1a2e"/>
                          </a:solidFill>
                          <a:latin typeface="Calibri"/>
                        </a:rPr>
                        <a:t>ResNet-18</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100" spc="-1" strike="noStrike">
                          <a:solidFill>
                            <a:srgbClr val="1a1a2e"/>
                          </a:solidFill>
                          <a:latin typeface="Calibri"/>
                        </a:rPr>
                        <a:t>PyTorch</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1" lang="en-US" sz="1100" spc="-1" strike="noStrike">
                          <a:solidFill>
                            <a:srgbClr val="f59e0b"/>
                          </a:solidFill>
                          <a:latin typeface="Calibri"/>
                        </a:rPr>
                        <a:t>99%</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0" lang="en-US" sz="1100" spc="-1" strike="noStrike">
                          <a:solidFill>
                            <a:srgbClr val="1a1a2e"/>
                          </a:solidFill>
                          <a:latin typeface="Calibri"/>
                        </a:rPr>
                        <a:t>98%</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i="1" lang="en-US" sz="1000" spc="-1" strike="noStrike">
                          <a:solidFill>
                            <a:srgbClr val="64748b"/>
                          </a:solidFill>
                          <a:latin typeface="Calibri"/>
                        </a:rPr>
                        <a:t>High accuracy but poor real-world perf.</a:t>
                      </a:r>
                      <a:endParaRPr b="0" lang="en-US" sz="10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r h="457200">
                <a:tc>
                  <a:txBody>
                    <a:bodyPr anchor="t">
                      <a:noAutofit/>
                    </a:bodyPr>
                    <a:p>
                      <a:pPr>
                        <a:lnSpc>
                          <a:spcPct val="100000"/>
                        </a:lnSpc>
                        <a:tabLst>
                          <a:tab algn="l" pos="0"/>
                        </a:tabLst>
                      </a:pPr>
                      <a:r>
                        <a:rPr b="1" lang="en-US" sz="1100" spc="-1" strike="noStrike">
                          <a:solidFill>
                            <a:srgbClr val="4a90d9"/>
                          </a:solidFill>
                          <a:latin typeface="Calibri"/>
                        </a:rPr>
                        <a:t>MobileNetV2 (Ours)</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100" spc="-1" strike="noStrike">
                          <a:solidFill>
                            <a:srgbClr val="1a1a2e"/>
                          </a:solidFill>
                          <a:latin typeface="Calibri"/>
                        </a:rPr>
                        <a:t>PyTorch</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1" lang="en-US" sz="1100" spc="-1" strike="noStrike">
                          <a:solidFill>
                            <a:srgbClr val="22c55e"/>
                          </a:solidFill>
                          <a:latin typeface="Calibri"/>
                        </a:rPr>
                        <a:t>~98%</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gn="ctr">
                        <a:lnSpc>
                          <a:spcPct val="100000"/>
                        </a:lnSpc>
                        <a:tabLst>
                          <a:tab algn="l" pos="0"/>
                        </a:tabLst>
                      </a:pPr>
                      <a:r>
                        <a:rPr b="1" lang="en-US" sz="1100" spc="-1" strike="noStrike">
                          <a:solidFill>
                            <a:srgbClr val="22c55e"/>
                          </a:solidFill>
                          <a:latin typeface="Calibri"/>
                        </a:rPr>
                        <a:t>&gt;90%</a:t>
                      </a:r>
                      <a:endParaRPr b="0" lang="en-US" sz="11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i="1" lang="en-US" sz="1000" spc="-1" strike="noStrike">
                          <a:solidFill>
                            <a:srgbClr val="22c55e"/>
                          </a:solidFill>
                          <a:latin typeface="Calibri"/>
                        </a:rPr>
                        <a:t>Gaussian noise added for realistic accuracy</a:t>
                      </a:r>
                      <a:endParaRPr b="0" lang="en-US" sz="10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bl>
          </a:graphicData>
        </a:graphic>
      </p:graphicFrame>
      <p:sp>
        <p:nvSpPr>
          <p:cNvPr id="73" name="Shape 3"/>
          <p:cNvSpPr/>
          <p:nvPr/>
        </p:nvSpPr>
        <p:spPr>
          <a:xfrm>
            <a:off x="365760" y="3566160"/>
            <a:ext cx="8412120" cy="1462680"/>
          </a:xfrm>
          <a:prstGeom prst="rect">
            <a:avLst/>
          </a:prstGeom>
          <a:solidFill>
            <a:srgbClr val="fff8e7"/>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4" name="Shape 4"/>
          <p:cNvSpPr/>
          <p:nvPr/>
        </p:nvSpPr>
        <p:spPr>
          <a:xfrm>
            <a:off x="365760" y="3566160"/>
            <a:ext cx="63720" cy="14626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 name="Text 5"/>
          <p:cNvSpPr/>
          <p:nvPr/>
        </p:nvSpPr>
        <p:spPr>
          <a:xfrm>
            <a:off x="548640" y="3611880"/>
            <a:ext cx="80463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7c4700"/>
                </a:solidFill>
                <a:latin typeface="Calibri"/>
              </a:rPr>
              <a:t>The Dataset Quality Problem — A Near Catastrophe</a:t>
            </a:r>
            <a:endParaRPr b="0" lang="en-US" sz="1300" spc="-1" strike="noStrike">
              <a:solidFill>
                <a:srgbClr val="000000"/>
              </a:solidFill>
              <a:latin typeface="Arial"/>
            </a:endParaRPr>
          </a:p>
        </p:txBody>
      </p:sp>
      <p:sp>
        <p:nvSpPr>
          <p:cNvPr id="76" name="Text 6"/>
          <p:cNvSpPr/>
          <p:nvPr/>
        </p:nvSpPr>
        <p:spPr>
          <a:xfrm>
            <a:off x="548640" y="3959280"/>
            <a:ext cx="8046360" cy="10054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100" spc="-1" strike="noStrike">
                <a:solidFill>
                  <a:srgbClr val="5c3300"/>
                </a:solidFill>
                <a:latin typeface="Calibri"/>
              </a:rPr>
              <a:t>The WithoutMask images came from the CelebFace dataset — high-resolution, studio-quality celebrity photos. The WithMask images were scraped from Google — lower quality, diverse real-world conditions. This image quality gap created a dangerous shortcut: the model could potentially learn to classify images based on quality rather than the presence of a mask, leading to near-perfect training accuracy that would completely fail in the real world. Our EDA caught this through the STD Comparison visualization, which showed a statistically significant difference in pixel variance between the two classes. We addressed this by applying Gaussian noise to the WithMask training images to narrow the quality gap and force the model to learn actual mask features.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Problem &amp; Business Value</a:t>
            </a:r>
            <a:endParaRPr b="0" lang="en-US" sz="2200" spc="-1" strike="noStrike">
              <a:solidFill>
                <a:srgbClr val="000000"/>
              </a:solidFill>
              <a:latin typeface="Arial"/>
            </a:endParaRPr>
          </a:p>
        </p:txBody>
      </p:sp>
      <p:sp>
        <p:nvSpPr>
          <p:cNvPr id="79" name="Shape 2"/>
          <p:cNvSpPr/>
          <p:nvPr/>
        </p:nvSpPr>
        <p:spPr>
          <a:xfrm>
            <a:off x="365760" y="822960"/>
            <a:ext cx="3931560" cy="3931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 name="Text 3"/>
          <p:cNvSpPr/>
          <p:nvPr/>
        </p:nvSpPr>
        <p:spPr>
          <a:xfrm>
            <a:off x="457200" y="914400"/>
            <a:ext cx="3748680" cy="4111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e2761"/>
                </a:solidFill>
                <a:latin typeface="Calibri"/>
              </a:rPr>
              <a:t>The Problem</a:t>
            </a:r>
            <a:endParaRPr b="0" lang="en-US" sz="1600" spc="-1" strike="noStrike">
              <a:solidFill>
                <a:srgbClr val="000000"/>
              </a:solidFill>
              <a:latin typeface="Arial"/>
            </a:endParaRPr>
          </a:p>
        </p:txBody>
      </p:sp>
      <p:sp>
        <p:nvSpPr>
          <p:cNvPr id="81" name="Text 4"/>
          <p:cNvSpPr/>
          <p:nvPr/>
        </p:nvSpPr>
        <p:spPr>
          <a:xfrm>
            <a:off x="502920" y="1371600"/>
            <a:ext cx="3657240" cy="301716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300" spc="-1" strike="noStrike">
                <a:solidFill>
                  <a:srgbClr val="1a1a2e"/>
                </a:solidFill>
                <a:latin typeface="Calibri"/>
              </a:rPr>
              <a:t>Manual mask checking at building entrances is:</a:t>
            </a:r>
            <a:endParaRPr b="0" lang="en-US" sz="1300" spc="-1" strike="noStrike">
              <a:solidFill>
                <a:srgbClr val="000000"/>
              </a:solidFill>
              <a:latin typeface="Arial"/>
            </a:endParaRPr>
          </a:p>
          <a:p>
            <a:pPr>
              <a:lnSpc>
                <a:spcPct val="100000"/>
              </a:lnSpc>
              <a:tabLst>
                <a:tab algn="l" pos="0"/>
              </a:tabLst>
            </a:pPr>
            <a:r>
              <a:rPr b="0" lang="en-US" sz="1300" spc="-1" strike="noStrike">
                <a:solidFill>
                  <a:srgbClr val="1a1a2e"/>
                </a:solidFill>
                <a:latin typeface="Calibri"/>
              </a:rPr>
              <a:t> </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Slow and creates bottlenecks</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Inconsistent across staff</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Not scalable for large facilities</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A health risk for enforcement staff</a:t>
            </a:r>
            <a:endParaRPr b="0" lang="en-US" sz="1300" spc="-1" strike="noStrike">
              <a:solidFill>
                <a:srgbClr val="000000"/>
              </a:solidFill>
              <a:latin typeface="Arial"/>
            </a:endParaRPr>
          </a:p>
        </p:txBody>
      </p:sp>
      <p:sp>
        <p:nvSpPr>
          <p:cNvPr id="82" name="Shape 5"/>
          <p:cNvSpPr/>
          <p:nvPr/>
        </p:nvSpPr>
        <p:spPr>
          <a:xfrm>
            <a:off x="4846320" y="822960"/>
            <a:ext cx="3931560" cy="3931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 name="Text 6"/>
          <p:cNvSpPr/>
          <p:nvPr/>
        </p:nvSpPr>
        <p:spPr>
          <a:xfrm>
            <a:off x="4937760" y="914400"/>
            <a:ext cx="3748680" cy="4111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e2761"/>
                </a:solidFill>
                <a:latin typeface="Calibri"/>
              </a:rPr>
              <a:t>Business Value</a:t>
            </a:r>
            <a:endParaRPr b="0" lang="en-US" sz="1600" spc="-1" strike="noStrike">
              <a:solidFill>
                <a:srgbClr val="000000"/>
              </a:solidFill>
              <a:latin typeface="Arial"/>
            </a:endParaRPr>
          </a:p>
        </p:txBody>
      </p:sp>
      <p:sp>
        <p:nvSpPr>
          <p:cNvPr id="84" name="Text 7"/>
          <p:cNvSpPr/>
          <p:nvPr/>
        </p:nvSpPr>
        <p:spPr>
          <a:xfrm>
            <a:off x="4983480" y="1371600"/>
            <a:ext cx="3657240" cy="301716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300" spc="-1" strike="noStrike">
                <a:solidFill>
                  <a:srgbClr val="1a1a2e"/>
                </a:solidFill>
                <a:latin typeface="Calibri"/>
              </a:rPr>
              <a:t>Real-time automated screening for:</a:t>
            </a:r>
            <a:endParaRPr b="0" lang="en-US" sz="1300" spc="-1" strike="noStrike">
              <a:solidFill>
                <a:srgbClr val="000000"/>
              </a:solidFill>
              <a:latin typeface="Arial"/>
            </a:endParaRPr>
          </a:p>
          <a:p>
            <a:pPr>
              <a:lnSpc>
                <a:spcPct val="100000"/>
              </a:lnSpc>
              <a:tabLst>
                <a:tab algn="l" pos="0"/>
              </a:tabLst>
            </a:pPr>
            <a:r>
              <a:rPr b="0" lang="en-US" sz="1300" spc="-1" strike="noStrike">
                <a:solidFill>
                  <a:srgbClr val="1a1a2e"/>
                </a:solidFill>
                <a:latin typeface="Calibri"/>
              </a:rPr>
              <a:t> </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Workplace safety compliance</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Hospital &amp; clinic entry control</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Public building access management</a:t>
            </a:r>
            <a:endParaRPr b="0" lang="en-US" sz="1300" spc="-1" strike="noStrike">
              <a:solidFill>
                <a:srgbClr val="000000"/>
              </a:solidFill>
              <a:latin typeface="Arial"/>
            </a:endParaRPr>
          </a:p>
          <a:p>
            <a:pPr marL="343080" indent="-343080">
              <a:lnSpc>
                <a:spcPct val="100000"/>
              </a:lnSpc>
              <a:buClr>
                <a:srgbClr val="1a1a2e"/>
              </a:buClr>
              <a:buFont typeface="Symbol" charset="2"/>
              <a:buChar char=""/>
              <a:tabLst>
                <a:tab algn="l" pos="0"/>
              </a:tabLst>
            </a:pPr>
            <a:r>
              <a:rPr b="0" lang="en-US" sz="1300" spc="-1" strike="noStrike">
                <a:solidFill>
                  <a:srgbClr val="1a1a2e"/>
                </a:solidFill>
                <a:latin typeface="Calibri"/>
              </a:rPr>
              <a:t>Allow / Deny entry decisions</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Dataset Overview</a:t>
            </a:r>
            <a:endParaRPr b="0" lang="en-US" sz="2200" spc="-1" strike="noStrike">
              <a:solidFill>
                <a:srgbClr val="000000"/>
              </a:solidFill>
              <a:latin typeface="Arial"/>
            </a:endParaRPr>
          </a:p>
        </p:txBody>
      </p:sp>
      <p:sp>
        <p:nvSpPr>
          <p:cNvPr id="87" name="Shape 2"/>
          <p:cNvSpPr/>
          <p:nvPr/>
        </p:nvSpPr>
        <p:spPr>
          <a:xfrm>
            <a:off x="365760" y="822960"/>
            <a:ext cx="2559960" cy="12798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3"/>
          <p:cNvSpPr/>
          <p:nvPr/>
        </p:nvSpPr>
        <p:spPr>
          <a:xfrm>
            <a:off x="365760" y="868680"/>
            <a:ext cx="2559960" cy="731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ffffff"/>
                </a:solidFill>
                <a:latin typeface="Calibri"/>
              </a:rPr>
              <a:t>12,000</a:t>
            </a:r>
            <a:endParaRPr b="0" lang="en-US" sz="2800" spc="-1" strike="noStrike">
              <a:solidFill>
                <a:srgbClr val="000000"/>
              </a:solidFill>
              <a:latin typeface="Arial"/>
            </a:endParaRPr>
          </a:p>
        </p:txBody>
      </p:sp>
      <p:sp>
        <p:nvSpPr>
          <p:cNvPr id="89" name="Text 4"/>
          <p:cNvSpPr/>
          <p:nvPr/>
        </p:nvSpPr>
        <p:spPr>
          <a:xfrm>
            <a:off x="365760" y="1554480"/>
            <a:ext cx="2559960" cy="411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cadcfc"/>
                </a:solidFill>
                <a:latin typeface="Calibri"/>
              </a:rPr>
              <a:t>Total Images</a:t>
            </a:r>
            <a:endParaRPr b="0" lang="en-US" sz="1200" spc="-1" strike="noStrike">
              <a:solidFill>
                <a:srgbClr val="000000"/>
              </a:solidFill>
              <a:latin typeface="Arial"/>
            </a:endParaRPr>
          </a:p>
        </p:txBody>
      </p:sp>
      <p:sp>
        <p:nvSpPr>
          <p:cNvPr id="90" name="Shape 5"/>
          <p:cNvSpPr/>
          <p:nvPr/>
        </p:nvSpPr>
        <p:spPr>
          <a:xfrm>
            <a:off x="3200400" y="822960"/>
            <a:ext cx="2559960" cy="12798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Text 6"/>
          <p:cNvSpPr/>
          <p:nvPr/>
        </p:nvSpPr>
        <p:spPr>
          <a:xfrm>
            <a:off x="3200400" y="868680"/>
            <a:ext cx="2559960" cy="731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ffffff"/>
                </a:solidFill>
                <a:latin typeface="Calibri"/>
              </a:rPr>
              <a:t>2</a:t>
            </a:r>
            <a:endParaRPr b="0" lang="en-US" sz="2800" spc="-1" strike="noStrike">
              <a:solidFill>
                <a:srgbClr val="000000"/>
              </a:solidFill>
              <a:latin typeface="Arial"/>
            </a:endParaRPr>
          </a:p>
        </p:txBody>
      </p:sp>
      <p:sp>
        <p:nvSpPr>
          <p:cNvPr id="92" name="Text 7"/>
          <p:cNvSpPr/>
          <p:nvPr/>
        </p:nvSpPr>
        <p:spPr>
          <a:xfrm>
            <a:off x="3200400" y="1554480"/>
            <a:ext cx="2559960" cy="411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cadcfc"/>
                </a:solidFill>
                <a:latin typeface="Calibri"/>
              </a:rPr>
              <a:t>Classes</a:t>
            </a:r>
            <a:endParaRPr b="0" lang="en-US" sz="1200" spc="-1" strike="noStrike">
              <a:solidFill>
                <a:srgbClr val="000000"/>
              </a:solidFill>
              <a:latin typeface="Arial"/>
            </a:endParaRPr>
          </a:p>
        </p:txBody>
      </p:sp>
      <p:sp>
        <p:nvSpPr>
          <p:cNvPr id="93" name="Shape 8"/>
          <p:cNvSpPr/>
          <p:nvPr/>
        </p:nvSpPr>
        <p:spPr>
          <a:xfrm>
            <a:off x="6035040" y="822960"/>
            <a:ext cx="2559960" cy="12798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Text 9"/>
          <p:cNvSpPr/>
          <p:nvPr/>
        </p:nvSpPr>
        <p:spPr>
          <a:xfrm>
            <a:off x="6035040" y="868680"/>
            <a:ext cx="2559960" cy="731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ffffff"/>
                </a:solidFill>
                <a:latin typeface="Calibri"/>
              </a:rPr>
              <a:t>329 MB</a:t>
            </a:r>
            <a:endParaRPr b="0" lang="en-US" sz="2800" spc="-1" strike="noStrike">
              <a:solidFill>
                <a:srgbClr val="000000"/>
              </a:solidFill>
              <a:latin typeface="Arial"/>
            </a:endParaRPr>
          </a:p>
        </p:txBody>
      </p:sp>
      <p:sp>
        <p:nvSpPr>
          <p:cNvPr id="95" name="Text 10"/>
          <p:cNvSpPr/>
          <p:nvPr/>
        </p:nvSpPr>
        <p:spPr>
          <a:xfrm>
            <a:off x="6035040" y="1554480"/>
            <a:ext cx="2559960" cy="411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cadcfc"/>
                </a:solidFill>
                <a:latin typeface="Calibri"/>
              </a:rPr>
              <a:t>Dataset Size</a:t>
            </a:r>
            <a:endParaRPr b="0" lang="en-US" sz="1200" spc="-1" strike="noStrike">
              <a:solidFill>
                <a:srgbClr val="000000"/>
              </a:solidFill>
              <a:latin typeface="Arial"/>
            </a:endParaRPr>
          </a:p>
        </p:txBody>
      </p:sp>
      <p:sp>
        <p:nvSpPr>
          <p:cNvPr id="96" name="Text 11"/>
          <p:cNvSpPr/>
          <p:nvPr/>
        </p:nvSpPr>
        <p:spPr>
          <a:xfrm>
            <a:off x="365760" y="2304360"/>
            <a:ext cx="82292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e2761"/>
                </a:solidFill>
                <a:latin typeface="Calibri"/>
              </a:rPr>
              <a:t>Class Breakdown &amp; Data Sources</a:t>
            </a:r>
            <a:endParaRPr b="0" lang="en-US" sz="1500" spc="-1" strike="noStrike">
              <a:solidFill>
                <a:srgbClr val="000000"/>
              </a:solidFill>
              <a:latin typeface="Arial"/>
            </a:endParaRPr>
          </a:p>
        </p:txBody>
      </p:sp>
      <p:sp>
        <p:nvSpPr>
          <p:cNvPr id="97" name="Shape 12"/>
          <p:cNvSpPr/>
          <p:nvPr/>
        </p:nvSpPr>
        <p:spPr>
          <a:xfrm>
            <a:off x="365760" y="2761560"/>
            <a:ext cx="2011320" cy="50256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8" name="Text 13"/>
          <p:cNvSpPr/>
          <p:nvPr/>
        </p:nvSpPr>
        <p:spPr>
          <a:xfrm>
            <a:off x="365760" y="2761560"/>
            <a:ext cx="20113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ffffff"/>
                </a:solidFill>
                <a:latin typeface="Calibri"/>
              </a:rPr>
              <a:t>WithMask</a:t>
            </a:r>
            <a:endParaRPr b="0" lang="en-US" sz="1300" spc="-1" strike="noStrike">
              <a:solidFill>
                <a:srgbClr val="000000"/>
              </a:solidFill>
              <a:latin typeface="Arial"/>
            </a:endParaRPr>
          </a:p>
        </p:txBody>
      </p:sp>
      <p:sp>
        <p:nvSpPr>
          <p:cNvPr id="99" name="Shape 14"/>
          <p:cNvSpPr/>
          <p:nvPr/>
        </p:nvSpPr>
        <p:spPr>
          <a:xfrm>
            <a:off x="2377440" y="2761560"/>
            <a:ext cx="6309000" cy="502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Text 15"/>
          <p:cNvSpPr/>
          <p:nvPr/>
        </p:nvSpPr>
        <p:spPr>
          <a:xfrm>
            <a:off x="2468880" y="2761560"/>
            <a:ext cx="612612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~6,000 images  (50%)  —  Scraped from Google Images: real-world, varied quality, mixed conditions</a:t>
            </a:r>
            <a:endParaRPr b="0" lang="en-US" sz="1100" spc="-1" strike="noStrike">
              <a:solidFill>
                <a:srgbClr val="000000"/>
              </a:solidFill>
              <a:latin typeface="Arial"/>
            </a:endParaRPr>
          </a:p>
        </p:txBody>
      </p:sp>
      <p:sp>
        <p:nvSpPr>
          <p:cNvPr id="101" name="Shape 16"/>
          <p:cNvSpPr/>
          <p:nvPr/>
        </p:nvSpPr>
        <p:spPr>
          <a:xfrm>
            <a:off x="365760" y="3401640"/>
            <a:ext cx="2011320" cy="502560"/>
          </a:xfrm>
          <a:prstGeom prst="rect">
            <a:avLst/>
          </a:prstGeom>
          <a:solidFill>
            <a:srgbClr val="64748b"/>
          </a:solidFill>
          <a:ln w="12700">
            <a:solidFill>
              <a:srgbClr val="64748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2" name="Text 17"/>
          <p:cNvSpPr/>
          <p:nvPr/>
        </p:nvSpPr>
        <p:spPr>
          <a:xfrm>
            <a:off x="365760" y="3401640"/>
            <a:ext cx="20113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ffffff"/>
                </a:solidFill>
                <a:latin typeface="Calibri"/>
              </a:rPr>
              <a:t>WithoutMask</a:t>
            </a:r>
            <a:endParaRPr b="0" lang="en-US" sz="1300" spc="-1" strike="noStrike">
              <a:solidFill>
                <a:srgbClr val="000000"/>
              </a:solidFill>
              <a:latin typeface="Arial"/>
            </a:endParaRPr>
          </a:p>
        </p:txBody>
      </p:sp>
      <p:sp>
        <p:nvSpPr>
          <p:cNvPr id="103" name="Shape 18"/>
          <p:cNvSpPr/>
          <p:nvPr/>
        </p:nvSpPr>
        <p:spPr>
          <a:xfrm>
            <a:off x="2377440" y="3401640"/>
            <a:ext cx="6309000" cy="502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 name="Text 19"/>
          <p:cNvSpPr/>
          <p:nvPr/>
        </p:nvSpPr>
        <p:spPr>
          <a:xfrm>
            <a:off x="2468880" y="3401640"/>
            <a:ext cx="612612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~6,000 images  (50%)  —  CelebFace Dataset (Jessica Li): studio-quality, high-resolution celebrity photos</a:t>
            </a:r>
            <a:endParaRPr b="0" lang="en-US" sz="1100" spc="-1" strike="noStrike">
              <a:solidFill>
                <a:srgbClr val="000000"/>
              </a:solidFill>
              <a:latin typeface="Arial"/>
            </a:endParaRPr>
          </a:p>
        </p:txBody>
      </p:sp>
      <p:sp>
        <p:nvSpPr>
          <p:cNvPr id="105" name="Shape 20"/>
          <p:cNvSpPr/>
          <p:nvPr/>
        </p:nvSpPr>
        <p:spPr>
          <a:xfrm>
            <a:off x="365760" y="4069080"/>
            <a:ext cx="8412120" cy="1005480"/>
          </a:xfrm>
          <a:prstGeom prst="rect">
            <a:avLst/>
          </a:prstGeom>
          <a:solidFill>
            <a:srgbClr val="fff8e7"/>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 name="Shape 21"/>
          <p:cNvSpPr/>
          <p:nvPr/>
        </p:nvSpPr>
        <p:spPr>
          <a:xfrm>
            <a:off x="365760" y="4069080"/>
            <a:ext cx="63720" cy="10054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 name="Text 22"/>
          <p:cNvSpPr/>
          <p:nvPr/>
        </p:nvSpPr>
        <p:spPr>
          <a:xfrm>
            <a:off x="548640" y="4114800"/>
            <a:ext cx="8046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7c4700"/>
                </a:solidFill>
                <a:latin typeface="Calibri"/>
              </a:rPr>
              <a:t>Quality Mismatch Detected via EDA (STD Analysis)</a:t>
            </a:r>
            <a:endParaRPr b="0" lang="en-US" sz="1200" spc="-1" strike="noStrike">
              <a:solidFill>
                <a:srgbClr val="000000"/>
              </a:solidFill>
              <a:latin typeface="Arial"/>
            </a:endParaRPr>
          </a:p>
        </p:txBody>
      </p:sp>
      <p:sp>
        <p:nvSpPr>
          <p:cNvPr id="108" name="Text 23"/>
          <p:cNvSpPr/>
          <p:nvPr/>
        </p:nvSpPr>
        <p:spPr>
          <a:xfrm>
            <a:off x="548640" y="4407480"/>
            <a:ext cx="8046360" cy="62136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000" spc="-1" strike="noStrike">
                <a:solidFill>
                  <a:srgbClr val="5c3300"/>
                </a:solidFill>
                <a:latin typeface="Calibri"/>
              </a:rPr>
              <a:t>The STD of pixel values was significantly lower in the WithMask class (scrapped, compressed images) vs the WithoutMask class (high-res CelebFace photos). This quality gap risked teaching the model to detect image quality instead of masks — a form of shortcut learning. Solution: Gaussian noise was applied to WithMask images during augmentation to normalize the quality gap and ensure genuine feature learning.</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000" spc="-1" strike="noStrike">
                <a:solidFill>
                  <a:srgbClr val="ffffff"/>
                </a:solidFill>
                <a:latin typeface="Calibri"/>
              </a:rPr>
              <a:t>Model Architecture — Transfer Learning with MobileNetV2</a:t>
            </a:r>
            <a:endParaRPr b="0" lang="en-US" sz="2000" spc="-1" strike="noStrike">
              <a:solidFill>
                <a:srgbClr val="000000"/>
              </a:solidFill>
              <a:latin typeface="Arial"/>
            </a:endParaRPr>
          </a:p>
        </p:txBody>
      </p:sp>
      <p:sp>
        <p:nvSpPr>
          <p:cNvPr id="111" name="Shape 2"/>
          <p:cNvSpPr/>
          <p:nvPr/>
        </p:nvSpPr>
        <p:spPr>
          <a:xfrm>
            <a:off x="137160" y="777240"/>
            <a:ext cx="1554120" cy="91404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Text 3"/>
          <p:cNvSpPr/>
          <p:nvPr/>
        </p:nvSpPr>
        <p:spPr>
          <a:xfrm>
            <a:off x="137160" y="777240"/>
            <a:ext cx="15541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ffffff"/>
                </a:solidFill>
                <a:latin typeface="Calibri"/>
              </a:rPr>
              <a:t>Input</a:t>
            </a:r>
            <a:endParaRPr b="0" lang="en-US" sz="1100" spc="-1" strike="noStrike">
              <a:solidFill>
                <a:srgbClr val="000000"/>
              </a:solidFill>
              <a:latin typeface="Arial"/>
            </a:endParaRPr>
          </a:p>
          <a:p>
            <a:pPr algn="ctr">
              <a:lnSpc>
                <a:spcPct val="100000"/>
              </a:lnSpc>
              <a:tabLst>
                <a:tab algn="l" pos="0"/>
              </a:tabLst>
            </a:pPr>
            <a:r>
              <a:rPr b="1" lang="en-US" sz="1100" spc="-1" strike="noStrike">
                <a:solidFill>
                  <a:srgbClr val="ffffff"/>
                </a:solidFill>
                <a:latin typeface="Calibri"/>
              </a:rPr>
              <a:t>224x224 RGB</a:t>
            </a:r>
            <a:endParaRPr b="0" lang="en-US" sz="1100" spc="-1" strike="noStrike">
              <a:solidFill>
                <a:srgbClr val="000000"/>
              </a:solidFill>
              <a:latin typeface="Arial"/>
            </a:endParaRPr>
          </a:p>
        </p:txBody>
      </p:sp>
      <p:sp>
        <p:nvSpPr>
          <p:cNvPr id="113" name="Text 4"/>
          <p:cNvSpPr/>
          <p:nvPr/>
        </p:nvSpPr>
        <p:spPr>
          <a:xfrm>
            <a:off x="137160" y="1710000"/>
            <a:ext cx="15541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900" spc="-1" strike="noStrike">
                <a:solidFill>
                  <a:srgbClr val="64748b"/>
                </a:solidFill>
                <a:latin typeface="Calibri"/>
              </a:rPr>
              <a:t>Resized &amp; normalized</a:t>
            </a:r>
            <a:endParaRPr b="0" lang="en-US" sz="900" spc="-1" strike="noStrike">
              <a:solidFill>
                <a:srgbClr val="000000"/>
              </a:solidFill>
              <a:latin typeface="Arial"/>
            </a:endParaRPr>
          </a:p>
        </p:txBody>
      </p:sp>
      <p:sp>
        <p:nvSpPr>
          <p:cNvPr id="114" name="Shape 5"/>
          <p:cNvSpPr/>
          <p:nvPr/>
        </p:nvSpPr>
        <p:spPr>
          <a:xfrm>
            <a:off x="1691640" y="1161360"/>
            <a:ext cx="219240" cy="72720"/>
          </a:xfrm>
          <a:prstGeom prst="rect">
            <a:avLst/>
          </a:prstGeom>
          <a:solidFill>
            <a:srgbClr val="64748b"/>
          </a:solidFill>
          <a:ln w="12700">
            <a:solidFill>
              <a:srgbClr val="64748b"/>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115" name="Shape 6"/>
          <p:cNvSpPr/>
          <p:nvPr/>
        </p:nvSpPr>
        <p:spPr>
          <a:xfrm>
            <a:off x="1911240" y="777240"/>
            <a:ext cx="1554120" cy="91404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Text 7"/>
          <p:cNvSpPr/>
          <p:nvPr/>
        </p:nvSpPr>
        <p:spPr>
          <a:xfrm>
            <a:off x="1911240" y="777240"/>
            <a:ext cx="15541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ffffff"/>
                </a:solidFill>
                <a:latin typeface="Calibri"/>
              </a:rPr>
              <a:t>MobileNetV2</a:t>
            </a:r>
            <a:endParaRPr b="0" lang="en-US" sz="1100" spc="-1" strike="noStrike">
              <a:solidFill>
                <a:srgbClr val="000000"/>
              </a:solidFill>
              <a:latin typeface="Arial"/>
            </a:endParaRPr>
          </a:p>
          <a:p>
            <a:pPr algn="ctr">
              <a:lnSpc>
                <a:spcPct val="100000"/>
              </a:lnSpc>
              <a:tabLst>
                <a:tab algn="l" pos="0"/>
              </a:tabLst>
            </a:pPr>
            <a:r>
              <a:rPr b="1" lang="en-US" sz="1100" spc="-1" strike="noStrike">
                <a:solidFill>
                  <a:srgbClr val="ffffff"/>
                </a:solidFill>
                <a:latin typeface="Calibri"/>
              </a:rPr>
              <a:t>Backbone</a:t>
            </a:r>
            <a:endParaRPr b="0" lang="en-US" sz="1100" spc="-1" strike="noStrike">
              <a:solidFill>
                <a:srgbClr val="000000"/>
              </a:solidFill>
              <a:latin typeface="Arial"/>
            </a:endParaRPr>
          </a:p>
        </p:txBody>
      </p:sp>
      <p:sp>
        <p:nvSpPr>
          <p:cNvPr id="117" name="Text 8"/>
          <p:cNvSpPr/>
          <p:nvPr/>
        </p:nvSpPr>
        <p:spPr>
          <a:xfrm>
            <a:off x="1911240" y="1710000"/>
            <a:ext cx="15541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900" spc="-1" strike="noStrike">
                <a:solidFill>
                  <a:srgbClr val="64748b"/>
                </a:solidFill>
                <a:latin typeface="Calibri"/>
              </a:rPr>
              <a:t>Frozen — pre-trained</a:t>
            </a:r>
            <a:endParaRPr b="0" lang="en-US" sz="900" spc="-1" strike="noStrike">
              <a:solidFill>
                <a:srgbClr val="000000"/>
              </a:solidFill>
              <a:latin typeface="Arial"/>
            </a:endParaRPr>
          </a:p>
          <a:p>
            <a:pPr algn="ctr">
              <a:lnSpc>
                <a:spcPct val="100000"/>
              </a:lnSpc>
              <a:tabLst>
                <a:tab algn="l" pos="0"/>
              </a:tabLst>
            </a:pPr>
            <a:r>
              <a:rPr b="0" lang="en-US" sz="900" spc="-1" strike="noStrike">
                <a:solidFill>
                  <a:srgbClr val="64748b"/>
                </a:solidFill>
                <a:latin typeface="Calibri"/>
              </a:rPr>
              <a:t>on ImageNet</a:t>
            </a:r>
            <a:endParaRPr b="0" lang="en-US" sz="900" spc="-1" strike="noStrike">
              <a:solidFill>
                <a:srgbClr val="000000"/>
              </a:solidFill>
              <a:latin typeface="Arial"/>
            </a:endParaRPr>
          </a:p>
        </p:txBody>
      </p:sp>
      <p:sp>
        <p:nvSpPr>
          <p:cNvPr id="118" name="Shape 9"/>
          <p:cNvSpPr/>
          <p:nvPr/>
        </p:nvSpPr>
        <p:spPr>
          <a:xfrm>
            <a:off x="3465720" y="1161360"/>
            <a:ext cx="219240" cy="72720"/>
          </a:xfrm>
          <a:prstGeom prst="rect">
            <a:avLst/>
          </a:prstGeom>
          <a:solidFill>
            <a:srgbClr val="64748b"/>
          </a:solidFill>
          <a:ln w="12700">
            <a:solidFill>
              <a:srgbClr val="64748b"/>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119" name="Shape 10"/>
          <p:cNvSpPr/>
          <p:nvPr/>
        </p:nvSpPr>
        <p:spPr>
          <a:xfrm>
            <a:off x="3684960" y="777240"/>
            <a:ext cx="1554120" cy="91404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 11"/>
          <p:cNvSpPr/>
          <p:nvPr/>
        </p:nvSpPr>
        <p:spPr>
          <a:xfrm>
            <a:off x="3684960" y="777240"/>
            <a:ext cx="15541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ffffff"/>
                </a:solidFill>
                <a:latin typeface="Calibri"/>
              </a:rPr>
              <a:t>Global Avg</a:t>
            </a:r>
            <a:endParaRPr b="0" lang="en-US" sz="1100" spc="-1" strike="noStrike">
              <a:solidFill>
                <a:srgbClr val="000000"/>
              </a:solidFill>
              <a:latin typeface="Arial"/>
            </a:endParaRPr>
          </a:p>
          <a:p>
            <a:pPr algn="ctr">
              <a:lnSpc>
                <a:spcPct val="100000"/>
              </a:lnSpc>
              <a:tabLst>
                <a:tab algn="l" pos="0"/>
              </a:tabLst>
            </a:pPr>
            <a:r>
              <a:rPr b="1" lang="en-US" sz="1100" spc="-1" strike="noStrike">
                <a:solidFill>
                  <a:srgbClr val="ffffff"/>
                </a:solidFill>
                <a:latin typeface="Calibri"/>
              </a:rPr>
              <a:t>Pooling</a:t>
            </a:r>
            <a:endParaRPr b="0" lang="en-US" sz="1100" spc="-1" strike="noStrike">
              <a:solidFill>
                <a:srgbClr val="000000"/>
              </a:solidFill>
              <a:latin typeface="Arial"/>
            </a:endParaRPr>
          </a:p>
        </p:txBody>
      </p:sp>
      <p:sp>
        <p:nvSpPr>
          <p:cNvPr id="121" name="Text 12"/>
          <p:cNvSpPr/>
          <p:nvPr/>
        </p:nvSpPr>
        <p:spPr>
          <a:xfrm>
            <a:off x="3684960" y="1710000"/>
            <a:ext cx="15541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900" spc="-1" strike="noStrike">
                <a:solidFill>
                  <a:srgbClr val="64748b"/>
                </a:solidFill>
                <a:latin typeface="Calibri"/>
              </a:rPr>
              <a:t>1280-dim feature</a:t>
            </a:r>
            <a:endParaRPr b="0" lang="en-US" sz="900" spc="-1" strike="noStrike">
              <a:solidFill>
                <a:srgbClr val="000000"/>
              </a:solidFill>
              <a:latin typeface="Arial"/>
            </a:endParaRPr>
          </a:p>
          <a:p>
            <a:pPr algn="ctr">
              <a:lnSpc>
                <a:spcPct val="100000"/>
              </a:lnSpc>
              <a:tabLst>
                <a:tab algn="l" pos="0"/>
              </a:tabLst>
            </a:pPr>
            <a:r>
              <a:rPr b="0" lang="en-US" sz="900" spc="-1" strike="noStrike">
                <a:solidFill>
                  <a:srgbClr val="64748b"/>
                </a:solidFill>
                <a:latin typeface="Calibri"/>
              </a:rPr>
              <a:t>vector</a:t>
            </a:r>
            <a:endParaRPr b="0" lang="en-US" sz="900" spc="-1" strike="noStrike">
              <a:solidFill>
                <a:srgbClr val="000000"/>
              </a:solidFill>
              <a:latin typeface="Arial"/>
            </a:endParaRPr>
          </a:p>
        </p:txBody>
      </p:sp>
      <p:sp>
        <p:nvSpPr>
          <p:cNvPr id="122" name="Shape 13"/>
          <p:cNvSpPr/>
          <p:nvPr/>
        </p:nvSpPr>
        <p:spPr>
          <a:xfrm>
            <a:off x="5239440" y="1161360"/>
            <a:ext cx="219240" cy="72720"/>
          </a:xfrm>
          <a:prstGeom prst="rect">
            <a:avLst/>
          </a:prstGeom>
          <a:solidFill>
            <a:srgbClr val="64748b"/>
          </a:solidFill>
          <a:ln w="12700">
            <a:solidFill>
              <a:srgbClr val="64748b"/>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123" name="Shape 14"/>
          <p:cNvSpPr/>
          <p:nvPr/>
        </p:nvSpPr>
        <p:spPr>
          <a:xfrm>
            <a:off x="5459040" y="777240"/>
            <a:ext cx="1554120" cy="91404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 name="Text 15"/>
          <p:cNvSpPr/>
          <p:nvPr/>
        </p:nvSpPr>
        <p:spPr>
          <a:xfrm>
            <a:off x="5459040" y="777240"/>
            <a:ext cx="15541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ffffff"/>
                </a:solidFill>
                <a:latin typeface="Calibri"/>
              </a:rPr>
              <a:t>Linear</a:t>
            </a:r>
            <a:endParaRPr b="0" lang="en-US" sz="1100" spc="-1" strike="noStrike">
              <a:solidFill>
                <a:srgbClr val="000000"/>
              </a:solidFill>
              <a:latin typeface="Arial"/>
            </a:endParaRPr>
          </a:p>
          <a:p>
            <a:pPr algn="ctr">
              <a:lnSpc>
                <a:spcPct val="100000"/>
              </a:lnSpc>
              <a:tabLst>
                <a:tab algn="l" pos="0"/>
              </a:tabLst>
            </a:pPr>
            <a:r>
              <a:rPr b="1" lang="en-US" sz="1100" spc="-1" strike="noStrike">
                <a:solidFill>
                  <a:srgbClr val="ffffff"/>
                </a:solidFill>
                <a:latin typeface="Calibri"/>
              </a:rPr>
              <a:t>1280 -&gt; 2</a:t>
            </a:r>
            <a:endParaRPr b="0" lang="en-US" sz="1100" spc="-1" strike="noStrike">
              <a:solidFill>
                <a:srgbClr val="000000"/>
              </a:solidFill>
              <a:latin typeface="Arial"/>
            </a:endParaRPr>
          </a:p>
        </p:txBody>
      </p:sp>
      <p:sp>
        <p:nvSpPr>
          <p:cNvPr id="125" name="Text 16"/>
          <p:cNvSpPr/>
          <p:nvPr/>
        </p:nvSpPr>
        <p:spPr>
          <a:xfrm>
            <a:off x="5459040" y="1710000"/>
            <a:ext cx="15541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900" spc="-1" strike="noStrike">
                <a:solidFill>
                  <a:srgbClr val="64748b"/>
                </a:solidFill>
                <a:latin typeface="Calibri"/>
              </a:rPr>
              <a:t>Our custom</a:t>
            </a:r>
            <a:endParaRPr b="0" lang="en-US" sz="900" spc="-1" strike="noStrike">
              <a:solidFill>
                <a:srgbClr val="000000"/>
              </a:solidFill>
              <a:latin typeface="Arial"/>
            </a:endParaRPr>
          </a:p>
          <a:p>
            <a:pPr algn="ctr">
              <a:lnSpc>
                <a:spcPct val="100000"/>
              </a:lnSpc>
              <a:tabLst>
                <a:tab algn="l" pos="0"/>
              </a:tabLst>
            </a:pPr>
            <a:r>
              <a:rPr b="0" lang="en-US" sz="900" spc="-1" strike="noStrike">
                <a:solidFill>
                  <a:srgbClr val="64748b"/>
                </a:solidFill>
                <a:latin typeface="Calibri"/>
              </a:rPr>
              <a:t>classifier</a:t>
            </a:r>
            <a:endParaRPr b="0" lang="en-US" sz="900" spc="-1" strike="noStrike">
              <a:solidFill>
                <a:srgbClr val="000000"/>
              </a:solidFill>
              <a:latin typeface="Arial"/>
            </a:endParaRPr>
          </a:p>
        </p:txBody>
      </p:sp>
      <p:sp>
        <p:nvSpPr>
          <p:cNvPr id="126" name="Shape 17"/>
          <p:cNvSpPr/>
          <p:nvPr/>
        </p:nvSpPr>
        <p:spPr>
          <a:xfrm>
            <a:off x="7013520" y="1161360"/>
            <a:ext cx="219240" cy="72720"/>
          </a:xfrm>
          <a:prstGeom prst="rect">
            <a:avLst/>
          </a:prstGeom>
          <a:solidFill>
            <a:srgbClr val="64748b"/>
          </a:solidFill>
          <a:ln w="12700">
            <a:solidFill>
              <a:srgbClr val="64748b"/>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127" name="Shape 18"/>
          <p:cNvSpPr/>
          <p:nvPr/>
        </p:nvSpPr>
        <p:spPr>
          <a:xfrm>
            <a:off x="7232760" y="777240"/>
            <a:ext cx="1554120" cy="91404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 name="Text 19"/>
          <p:cNvSpPr/>
          <p:nvPr/>
        </p:nvSpPr>
        <p:spPr>
          <a:xfrm>
            <a:off x="7232760" y="777240"/>
            <a:ext cx="15541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100" spc="-1" strike="noStrike">
                <a:solidFill>
                  <a:srgbClr val="ffffff"/>
                </a:solidFill>
                <a:latin typeface="Calibri"/>
              </a:rPr>
              <a:t>Softmax</a:t>
            </a:r>
            <a:endParaRPr b="0" lang="en-US" sz="1100" spc="-1" strike="noStrike">
              <a:solidFill>
                <a:srgbClr val="000000"/>
              </a:solidFill>
              <a:latin typeface="Arial"/>
            </a:endParaRPr>
          </a:p>
          <a:p>
            <a:pPr algn="ctr">
              <a:lnSpc>
                <a:spcPct val="100000"/>
              </a:lnSpc>
              <a:tabLst>
                <a:tab algn="l" pos="0"/>
              </a:tabLst>
            </a:pPr>
            <a:r>
              <a:rPr b="1" lang="en-US" sz="1100" spc="-1" strike="noStrike">
                <a:solidFill>
                  <a:srgbClr val="ffffff"/>
                </a:solidFill>
                <a:latin typeface="Calibri"/>
              </a:rPr>
              <a:t>Output</a:t>
            </a:r>
            <a:endParaRPr b="0" lang="en-US" sz="1100" spc="-1" strike="noStrike">
              <a:solidFill>
                <a:srgbClr val="000000"/>
              </a:solidFill>
              <a:latin typeface="Arial"/>
            </a:endParaRPr>
          </a:p>
        </p:txBody>
      </p:sp>
      <p:sp>
        <p:nvSpPr>
          <p:cNvPr id="129" name="Text 20"/>
          <p:cNvSpPr/>
          <p:nvPr/>
        </p:nvSpPr>
        <p:spPr>
          <a:xfrm>
            <a:off x="7232760" y="1710000"/>
            <a:ext cx="155412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900" spc="-1" strike="noStrike">
                <a:solidFill>
                  <a:srgbClr val="64748b"/>
                </a:solidFill>
                <a:latin typeface="Calibri"/>
              </a:rPr>
              <a:t>WithMask /</a:t>
            </a:r>
            <a:endParaRPr b="0" lang="en-US" sz="900" spc="-1" strike="noStrike">
              <a:solidFill>
                <a:srgbClr val="000000"/>
              </a:solidFill>
              <a:latin typeface="Arial"/>
            </a:endParaRPr>
          </a:p>
          <a:p>
            <a:pPr algn="ctr">
              <a:lnSpc>
                <a:spcPct val="100000"/>
              </a:lnSpc>
              <a:tabLst>
                <a:tab algn="l" pos="0"/>
              </a:tabLst>
            </a:pPr>
            <a:r>
              <a:rPr b="0" lang="en-US" sz="900" spc="-1" strike="noStrike">
                <a:solidFill>
                  <a:srgbClr val="64748b"/>
                </a:solidFill>
                <a:latin typeface="Calibri"/>
              </a:rPr>
              <a:t>WithoutMask</a:t>
            </a:r>
            <a:endParaRPr b="0" lang="en-US" sz="900" spc="-1" strike="noStrike">
              <a:solidFill>
                <a:srgbClr val="000000"/>
              </a:solidFill>
              <a:latin typeface="Arial"/>
            </a:endParaRPr>
          </a:p>
        </p:txBody>
      </p:sp>
      <p:sp>
        <p:nvSpPr>
          <p:cNvPr id="130" name="Text 21"/>
          <p:cNvSpPr/>
          <p:nvPr/>
        </p:nvSpPr>
        <p:spPr>
          <a:xfrm>
            <a:off x="365760" y="2359080"/>
            <a:ext cx="8412120" cy="3470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e2761"/>
                </a:solidFill>
                <a:latin typeface="Calibri"/>
              </a:rPr>
              <a:t>Key Design Choices — Problem &amp; Solution</a:t>
            </a:r>
            <a:endParaRPr b="0" lang="en-US" sz="1400" spc="-1" strike="noStrike">
              <a:solidFill>
                <a:srgbClr val="000000"/>
              </a:solidFill>
              <a:latin typeface="Arial"/>
            </a:endParaRPr>
          </a:p>
        </p:txBody>
      </p:sp>
      <p:sp>
        <p:nvSpPr>
          <p:cNvPr id="131" name="Shape 22"/>
          <p:cNvSpPr/>
          <p:nvPr/>
        </p:nvSpPr>
        <p:spPr>
          <a:xfrm>
            <a:off x="365760" y="2788920"/>
            <a:ext cx="8412120" cy="6580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2" name="Shape 23"/>
          <p:cNvSpPr/>
          <p:nvPr/>
        </p:nvSpPr>
        <p:spPr>
          <a:xfrm>
            <a:off x="365760" y="2788920"/>
            <a:ext cx="63720" cy="6580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 name="Text 24"/>
          <p:cNvSpPr/>
          <p:nvPr/>
        </p:nvSpPr>
        <p:spPr>
          <a:xfrm>
            <a:off x="548640" y="2825640"/>
            <a:ext cx="804636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Transfer Learning]  Problem: Training from scratch needs millions of images and days of GPU time</a:t>
            </a:r>
            <a:endParaRPr b="0" lang="en-US" sz="1000" spc="-1" strike="noStrike">
              <a:solidFill>
                <a:srgbClr val="000000"/>
              </a:solidFill>
              <a:latin typeface="Arial"/>
            </a:endParaRPr>
          </a:p>
        </p:txBody>
      </p:sp>
      <p:sp>
        <p:nvSpPr>
          <p:cNvPr id="134" name="Text 25"/>
          <p:cNvSpPr/>
          <p:nvPr/>
        </p:nvSpPr>
        <p:spPr>
          <a:xfrm>
            <a:off x="548640" y="3117960"/>
            <a:ext cx="8046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Solution: Used MobileNetV2 pre-trained on ImageNet — strong visual features out of the box with no extra cost</a:t>
            </a:r>
            <a:endParaRPr b="0" lang="en-US" sz="1100" spc="-1" strike="noStrike">
              <a:solidFill>
                <a:srgbClr val="000000"/>
              </a:solidFill>
              <a:latin typeface="Arial"/>
            </a:endParaRPr>
          </a:p>
        </p:txBody>
      </p:sp>
      <p:sp>
        <p:nvSpPr>
          <p:cNvPr id="135" name="Shape 26"/>
          <p:cNvSpPr/>
          <p:nvPr/>
        </p:nvSpPr>
        <p:spPr>
          <a:xfrm>
            <a:off x="365760" y="3538800"/>
            <a:ext cx="8412120" cy="6580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Shape 27"/>
          <p:cNvSpPr/>
          <p:nvPr/>
        </p:nvSpPr>
        <p:spPr>
          <a:xfrm>
            <a:off x="365760" y="3538800"/>
            <a:ext cx="63720" cy="6580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Text 28"/>
          <p:cNvSpPr/>
          <p:nvPr/>
        </p:nvSpPr>
        <p:spPr>
          <a:xfrm>
            <a:off x="548640" y="3575160"/>
            <a:ext cx="804636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Freeze Backbone]  Problem: Retraining all layers on 12K images risks overwriting learned features (catastrophic forgetting)</a:t>
            </a:r>
            <a:endParaRPr b="0" lang="en-US" sz="1000" spc="-1" strike="noStrike">
              <a:solidFill>
                <a:srgbClr val="000000"/>
              </a:solidFill>
              <a:latin typeface="Arial"/>
            </a:endParaRPr>
          </a:p>
        </p:txBody>
      </p:sp>
      <p:sp>
        <p:nvSpPr>
          <p:cNvPr id="138" name="Text 29"/>
          <p:cNvSpPr/>
          <p:nvPr/>
        </p:nvSpPr>
        <p:spPr>
          <a:xfrm>
            <a:off x="548640" y="3867840"/>
            <a:ext cx="8046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Solution: Backbone layers are frozen — only the final Linear(1280-&gt;2) classifier is trained on our data</a:t>
            </a:r>
            <a:endParaRPr b="0" lang="en-US" sz="1100" spc="-1" strike="noStrike">
              <a:solidFill>
                <a:srgbClr val="000000"/>
              </a:solidFill>
              <a:latin typeface="Arial"/>
            </a:endParaRPr>
          </a:p>
        </p:txBody>
      </p:sp>
      <p:sp>
        <p:nvSpPr>
          <p:cNvPr id="139" name="Shape 30"/>
          <p:cNvSpPr/>
          <p:nvPr/>
        </p:nvSpPr>
        <p:spPr>
          <a:xfrm>
            <a:off x="365760" y="4288680"/>
            <a:ext cx="8412120" cy="6580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0" name="Shape 31"/>
          <p:cNvSpPr/>
          <p:nvPr/>
        </p:nvSpPr>
        <p:spPr>
          <a:xfrm>
            <a:off x="365760" y="4288680"/>
            <a:ext cx="63720" cy="6580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 name="Text 32"/>
          <p:cNvSpPr/>
          <p:nvPr/>
        </p:nvSpPr>
        <p:spPr>
          <a:xfrm>
            <a:off x="548640" y="4325040"/>
            <a:ext cx="804636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MobileNetV2]  Problem: Heavier models like VGG or ResNet are too large for edge/mobile deployment</a:t>
            </a:r>
            <a:endParaRPr b="0" lang="en-US" sz="1000" spc="-1" strike="noStrike">
              <a:solidFill>
                <a:srgbClr val="000000"/>
              </a:solidFill>
              <a:latin typeface="Arial"/>
            </a:endParaRPr>
          </a:p>
        </p:txBody>
      </p:sp>
      <p:sp>
        <p:nvSpPr>
          <p:cNvPr id="142" name="Text 33"/>
          <p:cNvSpPr/>
          <p:nvPr/>
        </p:nvSpPr>
        <p:spPr>
          <a:xfrm>
            <a:off x="548640" y="4617720"/>
            <a:ext cx="8046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Solution: MobileNetV2 uses depthwise separable convolutions — much smaller and faster with comparable accuracy</a:t>
            </a:r>
            <a:endParaRPr b="0" lang="en-US" sz="1100" spc="-1" strike="noStrike">
              <a:solidFill>
                <a:srgbClr val="000000"/>
              </a:solidFill>
              <a:latin typeface="Arial"/>
            </a:endParaRPr>
          </a:p>
        </p:txBody>
      </p:sp>
      <p:sp>
        <p:nvSpPr>
          <p:cNvPr id="143" name="Shape 34"/>
          <p:cNvSpPr/>
          <p:nvPr/>
        </p:nvSpPr>
        <p:spPr>
          <a:xfrm>
            <a:off x="365760" y="5029200"/>
            <a:ext cx="8412120" cy="109440"/>
          </a:xfrm>
          <a:prstGeom prst="rect">
            <a:avLst/>
          </a:prstGeom>
          <a:solidFill>
            <a:srgbClr val="eef2ff"/>
          </a:solidFill>
          <a:ln w="12700">
            <a:solidFill>
              <a:srgbClr val="cadcfc"/>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144" name="Text 35"/>
          <p:cNvSpPr/>
          <p:nvPr/>
        </p:nvSpPr>
        <p:spPr>
          <a:xfrm>
            <a:off x="365760" y="4919400"/>
            <a:ext cx="841212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000" spc="-1" strike="noStrike">
                <a:solidFill>
                  <a:srgbClr val="1e2761"/>
                </a:solidFill>
                <a:latin typeface="Calibri"/>
              </a:rPr>
              <a:t>Optimizer: Adam  |  Loss: CrossEntropyLoss  |  LR: 0.001  |  Epochs: 10  |  Early Stopping: patience=5</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Data Augmentation</a:t>
            </a:r>
            <a:endParaRPr b="0" lang="en-US" sz="2200" spc="-1" strike="noStrike">
              <a:solidFill>
                <a:srgbClr val="000000"/>
              </a:solidFill>
              <a:latin typeface="Arial"/>
            </a:endParaRPr>
          </a:p>
        </p:txBody>
      </p:sp>
      <p:sp>
        <p:nvSpPr>
          <p:cNvPr id="147" name="Shape 2"/>
          <p:cNvSpPr/>
          <p:nvPr/>
        </p:nvSpPr>
        <p:spPr>
          <a:xfrm>
            <a:off x="365760" y="777240"/>
            <a:ext cx="2559960" cy="16912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 name="Shape 3"/>
          <p:cNvSpPr/>
          <p:nvPr/>
        </p:nvSpPr>
        <p:spPr>
          <a:xfrm>
            <a:off x="365760" y="777240"/>
            <a:ext cx="63720" cy="16912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 name="Text 4"/>
          <p:cNvSpPr/>
          <p:nvPr/>
        </p:nvSpPr>
        <p:spPr>
          <a:xfrm>
            <a:off x="548640" y="868680"/>
            <a:ext cx="23313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1e2761"/>
                </a:solidFill>
                <a:latin typeface="Calibri"/>
              </a:rPr>
              <a:t>Horizontal Flip</a:t>
            </a:r>
            <a:endParaRPr b="0" lang="en-US" sz="1300" spc="-1" strike="noStrike">
              <a:solidFill>
                <a:srgbClr val="000000"/>
              </a:solidFill>
              <a:latin typeface="Arial"/>
            </a:endParaRPr>
          </a:p>
        </p:txBody>
      </p:sp>
      <p:sp>
        <p:nvSpPr>
          <p:cNvPr id="150" name="Text 5"/>
          <p:cNvSpPr/>
          <p:nvPr/>
        </p:nvSpPr>
        <p:spPr>
          <a:xfrm>
            <a:off x="548640" y="1216080"/>
            <a:ext cx="2331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p=0.5</a:t>
            </a:r>
            <a:endParaRPr b="0" lang="en-US" sz="1100" spc="-1" strike="noStrike">
              <a:solidFill>
                <a:srgbClr val="000000"/>
              </a:solidFill>
              <a:latin typeface="Arial"/>
            </a:endParaRPr>
          </a:p>
        </p:txBody>
      </p:sp>
      <p:sp>
        <p:nvSpPr>
          <p:cNvPr id="151" name="Text 6"/>
          <p:cNvSpPr/>
          <p:nvPr/>
        </p:nvSpPr>
        <p:spPr>
          <a:xfrm>
            <a:off x="548640" y="1554480"/>
            <a:ext cx="2331360" cy="77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Real-world faces appear in both left/right orientations</a:t>
            </a:r>
            <a:endParaRPr b="0" lang="en-US" sz="1000" spc="-1" strike="noStrike">
              <a:solidFill>
                <a:srgbClr val="000000"/>
              </a:solidFill>
              <a:latin typeface="Arial"/>
            </a:endParaRPr>
          </a:p>
        </p:txBody>
      </p:sp>
      <p:sp>
        <p:nvSpPr>
          <p:cNvPr id="152" name="Shape 7"/>
          <p:cNvSpPr/>
          <p:nvPr/>
        </p:nvSpPr>
        <p:spPr>
          <a:xfrm>
            <a:off x="3200400" y="777240"/>
            <a:ext cx="2559960" cy="16912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3" name="Shape 8"/>
          <p:cNvSpPr/>
          <p:nvPr/>
        </p:nvSpPr>
        <p:spPr>
          <a:xfrm>
            <a:off x="3200400" y="777240"/>
            <a:ext cx="63720" cy="16912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4" name="Text 9"/>
          <p:cNvSpPr/>
          <p:nvPr/>
        </p:nvSpPr>
        <p:spPr>
          <a:xfrm>
            <a:off x="3383280" y="868680"/>
            <a:ext cx="23313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1e2761"/>
                </a:solidFill>
                <a:latin typeface="Calibri"/>
              </a:rPr>
              <a:t>Random Rotation</a:t>
            </a:r>
            <a:endParaRPr b="0" lang="en-US" sz="1300" spc="-1" strike="noStrike">
              <a:solidFill>
                <a:srgbClr val="000000"/>
              </a:solidFill>
              <a:latin typeface="Arial"/>
            </a:endParaRPr>
          </a:p>
        </p:txBody>
      </p:sp>
      <p:sp>
        <p:nvSpPr>
          <p:cNvPr id="155" name="Text 10"/>
          <p:cNvSpPr/>
          <p:nvPr/>
        </p:nvSpPr>
        <p:spPr>
          <a:xfrm>
            <a:off x="3383280" y="1216080"/>
            <a:ext cx="2331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degrees=20</a:t>
            </a:r>
            <a:endParaRPr b="0" lang="en-US" sz="1100" spc="-1" strike="noStrike">
              <a:solidFill>
                <a:srgbClr val="000000"/>
              </a:solidFill>
              <a:latin typeface="Arial"/>
            </a:endParaRPr>
          </a:p>
        </p:txBody>
      </p:sp>
      <p:sp>
        <p:nvSpPr>
          <p:cNvPr id="156" name="Text 11"/>
          <p:cNvSpPr/>
          <p:nvPr/>
        </p:nvSpPr>
        <p:spPr>
          <a:xfrm>
            <a:off x="3383280" y="1554480"/>
            <a:ext cx="2331360" cy="77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Handles tilted heads and angled cameras</a:t>
            </a:r>
            <a:endParaRPr b="0" lang="en-US" sz="1000" spc="-1" strike="noStrike">
              <a:solidFill>
                <a:srgbClr val="000000"/>
              </a:solidFill>
              <a:latin typeface="Arial"/>
            </a:endParaRPr>
          </a:p>
        </p:txBody>
      </p:sp>
      <p:sp>
        <p:nvSpPr>
          <p:cNvPr id="157" name="Shape 12"/>
          <p:cNvSpPr/>
          <p:nvPr/>
        </p:nvSpPr>
        <p:spPr>
          <a:xfrm>
            <a:off x="6035040" y="777240"/>
            <a:ext cx="2559960" cy="16912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8" name="Shape 13"/>
          <p:cNvSpPr/>
          <p:nvPr/>
        </p:nvSpPr>
        <p:spPr>
          <a:xfrm>
            <a:off x="6035040" y="777240"/>
            <a:ext cx="63720" cy="16912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Text 14"/>
          <p:cNvSpPr/>
          <p:nvPr/>
        </p:nvSpPr>
        <p:spPr>
          <a:xfrm>
            <a:off x="6217920" y="868680"/>
            <a:ext cx="23313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1e2761"/>
                </a:solidFill>
                <a:latin typeface="Calibri"/>
              </a:rPr>
              <a:t>Color Jitter</a:t>
            </a:r>
            <a:endParaRPr b="0" lang="en-US" sz="1300" spc="-1" strike="noStrike">
              <a:solidFill>
                <a:srgbClr val="000000"/>
              </a:solidFill>
              <a:latin typeface="Arial"/>
            </a:endParaRPr>
          </a:p>
        </p:txBody>
      </p:sp>
      <p:sp>
        <p:nvSpPr>
          <p:cNvPr id="160" name="Text 15"/>
          <p:cNvSpPr/>
          <p:nvPr/>
        </p:nvSpPr>
        <p:spPr>
          <a:xfrm>
            <a:off x="6217920" y="1216080"/>
            <a:ext cx="23313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brightness=0.5</a:t>
            </a:r>
            <a:endParaRPr b="0" lang="en-US" sz="1100" spc="-1" strike="noStrike">
              <a:solidFill>
                <a:srgbClr val="000000"/>
              </a:solidFill>
              <a:latin typeface="Arial"/>
            </a:endParaRPr>
          </a:p>
        </p:txBody>
      </p:sp>
      <p:sp>
        <p:nvSpPr>
          <p:cNvPr id="161" name="Text 16"/>
          <p:cNvSpPr/>
          <p:nvPr/>
        </p:nvSpPr>
        <p:spPr>
          <a:xfrm>
            <a:off x="6217920" y="1554480"/>
            <a:ext cx="2331360" cy="77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Indoor vs outdoor lighting variation</a:t>
            </a:r>
            <a:endParaRPr b="0" lang="en-US" sz="1000" spc="-1" strike="noStrike">
              <a:solidFill>
                <a:srgbClr val="000000"/>
              </a:solidFill>
              <a:latin typeface="Arial"/>
            </a:endParaRPr>
          </a:p>
        </p:txBody>
      </p:sp>
      <p:sp>
        <p:nvSpPr>
          <p:cNvPr id="162" name="Shape 17"/>
          <p:cNvSpPr/>
          <p:nvPr/>
        </p:nvSpPr>
        <p:spPr>
          <a:xfrm>
            <a:off x="365760" y="2651760"/>
            <a:ext cx="3931560" cy="16912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Shape 18"/>
          <p:cNvSpPr/>
          <p:nvPr/>
        </p:nvSpPr>
        <p:spPr>
          <a:xfrm>
            <a:off x="365760" y="2651760"/>
            <a:ext cx="63720" cy="169128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4" name="Text 19"/>
          <p:cNvSpPr/>
          <p:nvPr/>
        </p:nvSpPr>
        <p:spPr>
          <a:xfrm>
            <a:off x="548640" y="274320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1e2761"/>
                </a:solidFill>
                <a:latin typeface="Calibri"/>
              </a:rPr>
              <a:t>Gaussian Blur</a:t>
            </a:r>
            <a:endParaRPr b="0" lang="en-US" sz="1300" spc="-1" strike="noStrike">
              <a:solidFill>
                <a:srgbClr val="000000"/>
              </a:solidFill>
              <a:latin typeface="Arial"/>
            </a:endParaRPr>
          </a:p>
        </p:txBody>
      </p:sp>
      <p:sp>
        <p:nvSpPr>
          <p:cNvPr id="165" name="Text 20"/>
          <p:cNvSpPr/>
          <p:nvPr/>
        </p:nvSpPr>
        <p:spPr>
          <a:xfrm>
            <a:off x="548640" y="309060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kernel=5, sigma=(0.1, 2.0)</a:t>
            </a:r>
            <a:endParaRPr b="0" lang="en-US" sz="1100" spc="-1" strike="noStrike">
              <a:solidFill>
                <a:srgbClr val="000000"/>
              </a:solidFill>
              <a:latin typeface="Arial"/>
            </a:endParaRPr>
          </a:p>
        </p:txBody>
      </p:sp>
      <p:sp>
        <p:nvSpPr>
          <p:cNvPr id="166" name="Text 21"/>
          <p:cNvSpPr/>
          <p:nvPr/>
        </p:nvSpPr>
        <p:spPr>
          <a:xfrm>
            <a:off x="548640" y="3429000"/>
            <a:ext cx="3657240" cy="77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Simulates out-of-focus and low-quality cameras</a:t>
            </a:r>
            <a:endParaRPr b="0" lang="en-US" sz="1000" spc="-1" strike="noStrike">
              <a:solidFill>
                <a:srgbClr val="000000"/>
              </a:solidFill>
              <a:latin typeface="Arial"/>
            </a:endParaRPr>
          </a:p>
        </p:txBody>
      </p:sp>
      <p:sp>
        <p:nvSpPr>
          <p:cNvPr id="167" name="Shape 22"/>
          <p:cNvSpPr/>
          <p:nvPr/>
        </p:nvSpPr>
        <p:spPr>
          <a:xfrm>
            <a:off x="4846320" y="2651760"/>
            <a:ext cx="3931560" cy="169128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8" name="Shape 23"/>
          <p:cNvSpPr/>
          <p:nvPr/>
        </p:nvSpPr>
        <p:spPr>
          <a:xfrm>
            <a:off x="4846320" y="2651760"/>
            <a:ext cx="63720" cy="16912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9" name="Text 24"/>
          <p:cNvSpPr/>
          <p:nvPr/>
        </p:nvSpPr>
        <p:spPr>
          <a:xfrm>
            <a:off x="5029200" y="274320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1e2761"/>
                </a:solidFill>
                <a:latin typeface="Calibri"/>
              </a:rPr>
              <a:t>Gaussian Noise</a:t>
            </a:r>
            <a:endParaRPr b="0" lang="en-US" sz="1300" spc="-1" strike="noStrike">
              <a:solidFill>
                <a:srgbClr val="000000"/>
              </a:solidFill>
              <a:latin typeface="Arial"/>
            </a:endParaRPr>
          </a:p>
        </p:txBody>
      </p:sp>
      <p:sp>
        <p:nvSpPr>
          <p:cNvPr id="170" name="Text 25"/>
          <p:cNvSpPr/>
          <p:nvPr/>
        </p:nvSpPr>
        <p:spPr>
          <a:xfrm>
            <a:off x="5029200" y="309060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1a1a2e"/>
                </a:solidFill>
                <a:latin typeface="Calibri"/>
              </a:rPr>
              <a:t>lambda: x + 0.02 * randn  (applied to all)</a:t>
            </a:r>
            <a:endParaRPr b="0" lang="en-US" sz="1100" spc="-1" strike="noStrike">
              <a:solidFill>
                <a:srgbClr val="000000"/>
              </a:solidFill>
              <a:latin typeface="Arial"/>
            </a:endParaRPr>
          </a:p>
        </p:txBody>
      </p:sp>
      <p:sp>
        <p:nvSpPr>
          <p:cNvPr id="171" name="Text 26"/>
          <p:cNvSpPr/>
          <p:nvPr/>
        </p:nvSpPr>
        <p:spPr>
          <a:xfrm>
            <a:off x="5029200" y="3429000"/>
            <a:ext cx="3657240" cy="77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Why: Closes quality gap vs high-res CelebFace images — prevents shortcut learning</a:t>
            </a:r>
            <a:endParaRPr b="0" lang="en-US" sz="1000" spc="-1" strike="noStrike">
              <a:solidFill>
                <a:srgbClr val="000000"/>
              </a:solidFill>
              <a:latin typeface="Arial"/>
            </a:endParaRPr>
          </a:p>
        </p:txBody>
      </p:sp>
      <p:sp>
        <p:nvSpPr>
          <p:cNvPr id="172" name="Text 27"/>
          <p:cNvSpPr/>
          <p:nvPr/>
        </p:nvSpPr>
        <p:spPr>
          <a:xfrm>
            <a:off x="365760" y="4526280"/>
            <a:ext cx="841212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100" spc="-1" strike="noStrike">
                <a:solidFill>
                  <a:srgbClr val="ef4444"/>
                </a:solidFill>
                <a:latin typeface="Calibri"/>
              </a:rPr>
              <a:t>Note: Vertical flip was NOT used — faces are always upright in real scenarios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4"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Training Results</a:t>
            </a:r>
            <a:endParaRPr b="0" lang="en-US" sz="2200" spc="-1" strike="noStrike">
              <a:solidFill>
                <a:srgbClr val="000000"/>
              </a:solidFill>
              <a:latin typeface="Arial"/>
            </a:endParaRPr>
          </a:p>
        </p:txBody>
      </p:sp>
      <p:graphicFrame>
        <p:nvGraphicFramePr>
          <p:cNvPr id="175" name="Chart 0"/>
          <p:cNvGraphicFramePr/>
          <p:nvPr/>
        </p:nvGraphicFramePr>
        <p:xfrm>
          <a:off x="274320" y="777240"/>
          <a:ext cx="4114440" cy="29257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76" name="Chart 1"/>
          <p:cNvGraphicFramePr/>
          <p:nvPr/>
        </p:nvGraphicFramePr>
        <p:xfrm>
          <a:off x="4754880" y="777240"/>
          <a:ext cx="4114440" cy="2925720"/>
        </p:xfrm>
        <a:graphic>
          <a:graphicData uri="http://schemas.openxmlformats.org/drawingml/2006/chart">
            <c:chart xmlns:c="http://schemas.openxmlformats.org/drawingml/2006/chart" xmlns:r="http://schemas.openxmlformats.org/officeDocument/2006/relationships" r:id="rId2"/>
          </a:graphicData>
        </a:graphic>
      </p:graphicFrame>
      <p:sp>
        <p:nvSpPr>
          <p:cNvPr id="177" name="Text 2"/>
          <p:cNvSpPr/>
          <p:nvPr/>
        </p:nvSpPr>
        <p:spPr>
          <a:xfrm>
            <a:off x="365760" y="3840480"/>
            <a:ext cx="841212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i="1" lang="en-US" sz="1200" spc="-1" strike="noStrike">
                <a:solidFill>
                  <a:srgbClr val="64748b"/>
                </a:solidFill>
                <a:latin typeface="Calibri"/>
              </a:rPr>
              <a:t>Early stopping triggered when val loss stopped improving — best model saved automatically</a:t>
            </a:r>
            <a:endParaRPr b="0" lang="en-US" sz="1200" spc="-1" strike="noStrike">
              <a:solidFill>
                <a:srgbClr val="000000"/>
              </a:solidFill>
              <a:latin typeface="Arial"/>
            </a:endParaRPr>
          </a:p>
        </p:txBody>
      </p:sp>
      <p:sp>
        <p:nvSpPr>
          <p:cNvPr id="178" name="Shape 3"/>
          <p:cNvSpPr/>
          <p:nvPr/>
        </p:nvSpPr>
        <p:spPr>
          <a:xfrm>
            <a:off x="365760" y="4343400"/>
            <a:ext cx="255996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Text 4"/>
          <p:cNvSpPr/>
          <p:nvPr/>
        </p:nvSpPr>
        <p:spPr>
          <a:xfrm>
            <a:off x="365760" y="436176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000" spc="-1" strike="noStrike">
                <a:solidFill>
                  <a:srgbClr val="cadcfc"/>
                </a:solidFill>
                <a:latin typeface="Calibri"/>
              </a:rPr>
              <a:t>Final Val Accuracy</a:t>
            </a:r>
            <a:endParaRPr b="0" lang="en-US" sz="1000" spc="-1" strike="noStrike">
              <a:solidFill>
                <a:srgbClr val="000000"/>
              </a:solidFill>
              <a:latin typeface="Arial"/>
            </a:endParaRPr>
          </a:p>
        </p:txBody>
      </p:sp>
      <p:sp>
        <p:nvSpPr>
          <p:cNvPr id="180" name="Text 5"/>
          <p:cNvSpPr/>
          <p:nvPr/>
        </p:nvSpPr>
        <p:spPr>
          <a:xfrm>
            <a:off x="365760" y="4636080"/>
            <a:ext cx="2559960" cy="2923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ffffff"/>
                </a:solidFill>
                <a:latin typeface="Calibri"/>
              </a:rPr>
              <a:t>&gt;90%</a:t>
            </a:r>
            <a:endParaRPr b="0" lang="en-US" sz="1300" spc="-1" strike="noStrike">
              <a:solidFill>
                <a:srgbClr val="000000"/>
              </a:solidFill>
              <a:latin typeface="Arial"/>
            </a:endParaRPr>
          </a:p>
        </p:txBody>
      </p:sp>
      <p:sp>
        <p:nvSpPr>
          <p:cNvPr id="181" name="Shape 6"/>
          <p:cNvSpPr/>
          <p:nvPr/>
        </p:nvSpPr>
        <p:spPr>
          <a:xfrm>
            <a:off x="3200400" y="4343400"/>
            <a:ext cx="255996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Text 7"/>
          <p:cNvSpPr/>
          <p:nvPr/>
        </p:nvSpPr>
        <p:spPr>
          <a:xfrm>
            <a:off x="3200400" y="436176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000" spc="-1" strike="noStrike">
                <a:solidFill>
                  <a:srgbClr val="cadcfc"/>
                </a:solidFill>
                <a:latin typeface="Calibri"/>
              </a:rPr>
              <a:t>Model File</a:t>
            </a:r>
            <a:endParaRPr b="0" lang="en-US" sz="1000" spc="-1" strike="noStrike">
              <a:solidFill>
                <a:srgbClr val="000000"/>
              </a:solidFill>
              <a:latin typeface="Arial"/>
            </a:endParaRPr>
          </a:p>
        </p:txBody>
      </p:sp>
      <p:sp>
        <p:nvSpPr>
          <p:cNvPr id="183" name="Text 8"/>
          <p:cNvSpPr/>
          <p:nvPr/>
        </p:nvSpPr>
        <p:spPr>
          <a:xfrm>
            <a:off x="3200400" y="4636080"/>
            <a:ext cx="2559960" cy="2923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ffffff"/>
                </a:solidFill>
                <a:latin typeface="Calibri"/>
              </a:rPr>
              <a:t>mask_detector.pth</a:t>
            </a:r>
            <a:endParaRPr b="0" lang="en-US" sz="1300" spc="-1" strike="noStrike">
              <a:solidFill>
                <a:srgbClr val="000000"/>
              </a:solidFill>
              <a:latin typeface="Arial"/>
            </a:endParaRPr>
          </a:p>
        </p:txBody>
      </p:sp>
      <p:sp>
        <p:nvSpPr>
          <p:cNvPr id="184" name="Shape 9"/>
          <p:cNvSpPr/>
          <p:nvPr/>
        </p:nvSpPr>
        <p:spPr>
          <a:xfrm>
            <a:off x="6035040" y="4343400"/>
            <a:ext cx="255996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Text 10"/>
          <p:cNvSpPr/>
          <p:nvPr/>
        </p:nvSpPr>
        <p:spPr>
          <a:xfrm>
            <a:off x="6035040" y="4361760"/>
            <a:ext cx="2559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000" spc="-1" strike="noStrike">
                <a:solidFill>
                  <a:srgbClr val="cadcfc"/>
                </a:solidFill>
                <a:latin typeface="Calibri"/>
              </a:rPr>
              <a:t>Early Stopping</a:t>
            </a:r>
            <a:endParaRPr b="0" lang="en-US" sz="1000" spc="-1" strike="noStrike">
              <a:solidFill>
                <a:srgbClr val="000000"/>
              </a:solidFill>
              <a:latin typeface="Arial"/>
            </a:endParaRPr>
          </a:p>
        </p:txBody>
      </p:sp>
      <p:sp>
        <p:nvSpPr>
          <p:cNvPr id="186" name="Text 11"/>
          <p:cNvSpPr/>
          <p:nvPr/>
        </p:nvSpPr>
        <p:spPr>
          <a:xfrm>
            <a:off x="6035040" y="4636080"/>
            <a:ext cx="2559960" cy="2923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ffffff"/>
                </a:solidFill>
                <a:latin typeface="Calibri"/>
              </a:rPr>
              <a:t>Patience = 5</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Model Evaluation</a:t>
            </a:r>
            <a:endParaRPr b="0" lang="en-US" sz="2200" spc="-1" strike="noStrike">
              <a:solidFill>
                <a:srgbClr val="000000"/>
              </a:solidFill>
              <a:latin typeface="Arial"/>
            </a:endParaRPr>
          </a:p>
        </p:txBody>
      </p:sp>
      <p:sp>
        <p:nvSpPr>
          <p:cNvPr id="189" name="Text 2"/>
          <p:cNvSpPr/>
          <p:nvPr/>
        </p:nvSpPr>
        <p:spPr>
          <a:xfrm>
            <a:off x="365760" y="777240"/>
            <a:ext cx="39315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e2761"/>
                </a:solidFill>
                <a:latin typeface="Calibri"/>
              </a:rPr>
              <a:t>Confusion Matrix</a:t>
            </a:r>
            <a:endParaRPr b="0" lang="en-US" sz="1400" spc="-1" strike="noStrike">
              <a:solidFill>
                <a:srgbClr val="000000"/>
              </a:solidFill>
              <a:latin typeface="Arial"/>
            </a:endParaRPr>
          </a:p>
        </p:txBody>
      </p:sp>
      <p:sp>
        <p:nvSpPr>
          <p:cNvPr id="190" name="Shape 3"/>
          <p:cNvSpPr/>
          <p:nvPr/>
        </p:nvSpPr>
        <p:spPr>
          <a:xfrm>
            <a:off x="1371600" y="1234440"/>
            <a:ext cx="1371240" cy="3654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Text 4"/>
          <p:cNvSpPr/>
          <p:nvPr/>
        </p:nvSpPr>
        <p:spPr>
          <a:xfrm>
            <a:off x="1371600" y="123444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000" spc="-1" strike="noStrike">
                <a:solidFill>
                  <a:srgbClr val="ffffff"/>
                </a:solidFill>
                <a:latin typeface="Calibri"/>
              </a:rPr>
              <a:t>With Mask</a:t>
            </a:r>
            <a:endParaRPr b="0" lang="en-US" sz="1000" spc="-1" strike="noStrike">
              <a:solidFill>
                <a:srgbClr val="000000"/>
              </a:solidFill>
              <a:latin typeface="Arial"/>
            </a:endParaRPr>
          </a:p>
        </p:txBody>
      </p:sp>
      <p:sp>
        <p:nvSpPr>
          <p:cNvPr id="192" name="Shape 5"/>
          <p:cNvSpPr/>
          <p:nvPr/>
        </p:nvSpPr>
        <p:spPr>
          <a:xfrm>
            <a:off x="2743200" y="1234440"/>
            <a:ext cx="1371240" cy="36540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Text 6"/>
          <p:cNvSpPr/>
          <p:nvPr/>
        </p:nvSpPr>
        <p:spPr>
          <a:xfrm>
            <a:off x="2743200" y="123444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000" spc="-1" strike="noStrike">
                <a:solidFill>
                  <a:srgbClr val="ffffff"/>
                </a:solidFill>
                <a:latin typeface="Calibri"/>
              </a:rPr>
              <a:t>No Mask</a:t>
            </a:r>
            <a:endParaRPr b="0" lang="en-US" sz="1000" spc="-1" strike="noStrike">
              <a:solidFill>
                <a:srgbClr val="000000"/>
              </a:solidFill>
              <a:latin typeface="Arial"/>
            </a:endParaRPr>
          </a:p>
        </p:txBody>
      </p:sp>
      <p:sp>
        <p:nvSpPr>
          <p:cNvPr id="194" name="Shape 7"/>
          <p:cNvSpPr/>
          <p:nvPr/>
        </p:nvSpPr>
        <p:spPr>
          <a:xfrm>
            <a:off x="365760" y="1600200"/>
            <a:ext cx="1005480" cy="50256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Text 8"/>
          <p:cNvSpPr/>
          <p:nvPr/>
        </p:nvSpPr>
        <p:spPr>
          <a:xfrm>
            <a:off x="365760" y="1600200"/>
            <a:ext cx="100548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000" spc="-1" strike="noStrike">
                <a:solidFill>
                  <a:srgbClr val="ffffff"/>
                </a:solidFill>
                <a:latin typeface="Calibri"/>
              </a:rPr>
              <a:t>With</a:t>
            </a:r>
            <a:endParaRPr b="0" lang="en-US" sz="1000" spc="-1" strike="noStrike">
              <a:solidFill>
                <a:srgbClr val="000000"/>
              </a:solidFill>
              <a:latin typeface="Arial"/>
            </a:endParaRPr>
          </a:p>
          <a:p>
            <a:pPr algn="ctr">
              <a:lnSpc>
                <a:spcPct val="100000"/>
              </a:lnSpc>
              <a:tabLst>
                <a:tab algn="l" pos="0"/>
              </a:tabLst>
            </a:pPr>
            <a:r>
              <a:rPr b="1" lang="en-US" sz="1000" spc="-1" strike="noStrike">
                <a:solidFill>
                  <a:srgbClr val="ffffff"/>
                </a:solidFill>
                <a:latin typeface="Calibri"/>
              </a:rPr>
              <a:t>Mask</a:t>
            </a:r>
            <a:endParaRPr b="0" lang="en-US" sz="1000" spc="-1" strike="noStrike">
              <a:solidFill>
                <a:srgbClr val="000000"/>
              </a:solidFill>
              <a:latin typeface="Arial"/>
            </a:endParaRPr>
          </a:p>
        </p:txBody>
      </p:sp>
      <p:sp>
        <p:nvSpPr>
          <p:cNvPr id="196" name="Shape 9"/>
          <p:cNvSpPr/>
          <p:nvPr/>
        </p:nvSpPr>
        <p:spPr>
          <a:xfrm>
            <a:off x="1371600" y="1600200"/>
            <a:ext cx="1371240" cy="50256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Text 10"/>
          <p:cNvSpPr/>
          <p:nvPr/>
        </p:nvSpPr>
        <p:spPr>
          <a:xfrm>
            <a:off x="1371600" y="1600200"/>
            <a:ext cx="137124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TP</a:t>
            </a:r>
            <a:endParaRPr b="0" lang="en-US" sz="1400" spc="-1" strike="noStrike">
              <a:solidFill>
                <a:srgbClr val="000000"/>
              </a:solidFill>
              <a:latin typeface="Arial"/>
            </a:endParaRPr>
          </a:p>
        </p:txBody>
      </p:sp>
      <p:sp>
        <p:nvSpPr>
          <p:cNvPr id="198" name="Shape 11"/>
          <p:cNvSpPr/>
          <p:nvPr/>
        </p:nvSpPr>
        <p:spPr>
          <a:xfrm>
            <a:off x="2743200" y="1600200"/>
            <a:ext cx="1371240" cy="502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9" name="Text 12"/>
          <p:cNvSpPr/>
          <p:nvPr/>
        </p:nvSpPr>
        <p:spPr>
          <a:xfrm>
            <a:off x="2743200" y="1600200"/>
            <a:ext cx="137124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400" spc="-1" strike="noStrike">
                <a:solidFill>
                  <a:srgbClr val="64748b"/>
                </a:solidFill>
                <a:latin typeface="Calibri"/>
              </a:rPr>
              <a:t>FN</a:t>
            </a:r>
            <a:endParaRPr b="0" lang="en-US" sz="1400" spc="-1" strike="noStrike">
              <a:solidFill>
                <a:srgbClr val="000000"/>
              </a:solidFill>
              <a:latin typeface="Arial"/>
            </a:endParaRPr>
          </a:p>
        </p:txBody>
      </p:sp>
      <p:sp>
        <p:nvSpPr>
          <p:cNvPr id="200" name="Shape 13"/>
          <p:cNvSpPr/>
          <p:nvPr/>
        </p:nvSpPr>
        <p:spPr>
          <a:xfrm>
            <a:off x="365760" y="2103120"/>
            <a:ext cx="1005480" cy="50256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Text 14"/>
          <p:cNvSpPr/>
          <p:nvPr/>
        </p:nvSpPr>
        <p:spPr>
          <a:xfrm>
            <a:off x="365760" y="2103120"/>
            <a:ext cx="100548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000" spc="-1" strike="noStrike">
                <a:solidFill>
                  <a:srgbClr val="ffffff"/>
                </a:solidFill>
                <a:latin typeface="Calibri"/>
              </a:rPr>
              <a:t>No</a:t>
            </a:r>
            <a:endParaRPr b="0" lang="en-US" sz="1000" spc="-1" strike="noStrike">
              <a:solidFill>
                <a:srgbClr val="000000"/>
              </a:solidFill>
              <a:latin typeface="Arial"/>
            </a:endParaRPr>
          </a:p>
          <a:p>
            <a:pPr algn="ctr">
              <a:lnSpc>
                <a:spcPct val="100000"/>
              </a:lnSpc>
              <a:tabLst>
                <a:tab algn="l" pos="0"/>
              </a:tabLst>
            </a:pPr>
            <a:r>
              <a:rPr b="1" lang="en-US" sz="1000" spc="-1" strike="noStrike">
                <a:solidFill>
                  <a:srgbClr val="ffffff"/>
                </a:solidFill>
                <a:latin typeface="Calibri"/>
              </a:rPr>
              <a:t>Mask</a:t>
            </a:r>
            <a:endParaRPr b="0" lang="en-US" sz="1000" spc="-1" strike="noStrike">
              <a:solidFill>
                <a:srgbClr val="000000"/>
              </a:solidFill>
              <a:latin typeface="Arial"/>
            </a:endParaRPr>
          </a:p>
        </p:txBody>
      </p:sp>
      <p:sp>
        <p:nvSpPr>
          <p:cNvPr id="202" name="Shape 15"/>
          <p:cNvSpPr/>
          <p:nvPr/>
        </p:nvSpPr>
        <p:spPr>
          <a:xfrm>
            <a:off x="1371600" y="2103120"/>
            <a:ext cx="1371240" cy="5025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3" name="Text 16"/>
          <p:cNvSpPr/>
          <p:nvPr/>
        </p:nvSpPr>
        <p:spPr>
          <a:xfrm>
            <a:off x="1371600" y="2103120"/>
            <a:ext cx="137124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400" spc="-1" strike="noStrike">
                <a:solidFill>
                  <a:srgbClr val="64748b"/>
                </a:solidFill>
                <a:latin typeface="Calibri"/>
              </a:rPr>
              <a:t>FP</a:t>
            </a:r>
            <a:endParaRPr b="0" lang="en-US" sz="1400" spc="-1" strike="noStrike">
              <a:solidFill>
                <a:srgbClr val="000000"/>
              </a:solidFill>
              <a:latin typeface="Arial"/>
            </a:endParaRPr>
          </a:p>
        </p:txBody>
      </p:sp>
      <p:sp>
        <p:nvSpPr>
          <p:cNvPr id="204" name="Shape 17"/>
          <p:cNvSpPr/>
          <p:nvPr/>
        </p:nvSpPr>
        <p:spPr>
          <a:xfrm>
            <a:off x="2743200" y="2103120"/>
            <a:ext cx="1371240" cy="50256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5" name="Text 18"/>
          <p:cNvSpPr/>
          <p:nvPr/>
        </p:nvSpPr>
        <p:spPr>
          <a:xfrm>
            <a:off x="2743200" y="2103120"/>
            <a:ext cx="1371240" cy="502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TN</a:t>
            </a:r>
            <a:endParaRPr b="0" lang="en-US" sz="1400" spc="-1" strike="noStrike">
              <a:solidFill>
                <a:srgbClr val="000000"/>
              </a:solidFill>
              <a:latin typeface="Arial"/>
            </a:endParaRPr>
          </a:p>
        </p:txBody>
      </p:sp>
      <p:sp>
        <p:nvSpPr>
          <p:cNvPr id="206" name="Text 19"/>
          <p:cNvSpPr/>
          <p:nvPr/>
        </p:nvSpPr>
        <p:spPr>
          <a:xfrm>
            <a:off x="4572000" y="777240"/>
            <a:ext cx="42058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e2761"/>
                </a:solidFill>
                <a:latin typeface="Calibri"/>
              </a:rPr>
              <a:t>Per-Class Metrics</a:t>
            </a:r>
            <a:endParaRPr b="0" lang="en-US" sz="1400" spc="-1" strike="noStrike">
              <a:solidFill>
                <a:srgbClr val="000000"/>
              </a:solidFill>
              <a:latin typeface="Arial"/>
            </a:endParaRPr>
          </a:p>
        </p:txBody>
      </p:sp>
      <p:graphicFrame>
        <p:nvGraphicFramePr>
          <p:cNvPr id="207" name="Table 0"/>
          <p:cNvGraphicFramePr/>
          <p:nvPr/>
        </p:nvGraphicFramePr>
        <p:xfrm>
          <a:off x="4572000" y="1188720"/>
          <a:ext cx="4205880" cy="1554120"/>
        </p:xfrm>
        <a:graphic>
          <a:graphicData uri="http://schemas.openxmlformats.org/drawingml/2006/table">
            <a:tbl>
              <a:tblPr/>
              <a:tblGrid>
                <a:gridCol w="1463040"/>
                <a:gridCol w="914400"/>
                <a:gridCol w="914400"/>
                <a:gridCol w="914400"/>
              </a:tblGrid>
              <a:tr h="388440">
                <a:tc>
                  <a:txBody>
                    <a:bodyPr anchor="t">
                      <a:noAutofit/>
                    </a:bodyPr>
                    <a:p>
                      <a:pPr>
                        <a:lnSpc>
                          <a:spcPct val="100000"/>
                        </a:lnSpc>
                        <a:tabLst>
                          <a:tab algn="l" pos="0"/>
                        </a:tabLst>
                      </a:pPr>
                      <a:r>
                        <a:rPr b="1" lang="en-US" sz="1200" spc="-1" strike="noStrike">
                          <a:solidFill>
                            <a:srgbClr val="ffffff"/>
                          </a:solidFill>
                          <a:latin typeface="Calibri"/>
                        </a:rPr>
                        <a:t>Class</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nSpc>
                          <a:spcPct val="100000"/>
                        </a:lnSpc>
                        <a:tabLst>
                          <a:tab algn="l" pos="0"/>
                        </a:tabLst>
                      </a:pPr>
                      <a:r>
                        <a:rPr b="1" lang="en-US" sz="1200" spc="-1" strike="noStrike">
                          <a:solidFill>
                            <a:srgbClr val="ffffff"/>
                          </a:solidFill>
                          <a:latin typeface="Calibri"/>
                        </a:rPr>
                        <a:t>Precision</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nSpc>
                          <a:spcPct val="100000"/>
                        </a:lnSpc>
                        <a:tabLst>
                          <a:tab algn="l" pos="0"/>
                        </a:tabLst>
                      </a:pPr>
                      <a:r>
                        <a:rPr b="1" lang="en-US" sz="1200" spc="-1" strike="noStrike">
                          <a:solidFill>
                            <a:srgbClr val="ffffff"/>
                          </a:solidFill>
                          <a:latin typeface="Calibri"/>
                        </a:rPr>
                        <a:t>Recall</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c>
                  <a:txBody>
                    <a:bodyPr anchor="t">
                      <a:noAutofit/>
                    </a:bodyPr>
                    <a:p>
                      <a:pPr>
                        <a:lnSpc>
                          <a:spcPct val="100000"/>
                        </a:lnSpc>
                        <a:tabLst>
                          <a:tab algn="l" pos="0"/>
                        </a:tabLst>
                      </a:pPr>
                      <a:r>
                        <a:rPr b="1" lang="en-US" sz="1200" spc="-1" strike="noStrike">
                          <a:solidFill>
                            <a:srgbClr val="ffffff"/>
                          </a:solidFill>
                          <a:latin typeface="Calibri"/>
                        </a:rPr>
                        <a:t>F1 Score</a:t>
                      </a:r>
                      <a:endParaRPr b="0" lang="en-US" sz="1200" spc="-1" strike="noStrike">
                        <a:solidFill>
                          <a:srgbClr val="ffffff"/>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1e2761"/>
                    </a:solidFill>
                  </a:tcPr>
                </a:tc>
              </a:tr>
              <a:tr h="388440">
                <a:tc>
                  <a:txBody>
                    <a:bodyPr anchor="t">
                      <a:noAutofit/>
                    </a:bodyPr>
                    <a:p>
                      <a:pPr>
                        <a:lnSpc>
                          <a:spcPct val="100000"/>
                        </a:lnSpc>
                        <a:tabLst>
                          <a:tab algn="l" pos="0"/>
                        </a:tabLst>
                      </a:pPr>
                      <a:r>
                        <a:rPr b="0" lang="en-US" sz="1200" spc="-1" strike="noStrike">
                          <a:solidFill>
                            <a:srgbClr val="1a1a2e"/>
                          </a:solidFill>
                          <a:latin typeface="Calibri"/>
                        </a:rPr>
                        <a:t>WithMask</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0.96</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0.95</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0.95</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r h="388440">
                <a:tc>
                  <a:txBody>
                    <a:bodyPr anchor="t">
                      <a:noAutofit/>
                    </a:bodyPr>
                    <a:p>
                      <a:pPr>
                        <a:lnSpc>
                          <a:spcPct val="100000"/>
                        </a:lnSpc>
                        <a:tabLst>
                          <a:tab algn="l" pos="0"/>
                        </a:tabLst>
                      </a:pPr>
                      <a:r>
                        <a:rPr b="0" lang="en-US" sz="1200" spc="-1" strike="noStrike">
                          <a:solidFill>
                            <a:srgbClr val="1a1a2e"/>
                          </a:solidFill>
                          <a:latin typeface="Calibri"/>
                        </a:rPr>
                        <a:t>WithoutMask</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0.95</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0.96</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0" lang="en-US" sz="1200" spc="-1" strike="noStrike">
                          <a:solidFill>
                            <a:srgbClr val="1a1a2e"/>
                          </a:solidFill>
                          <a:latin typeface="Calibri"/>
                        </a:rPr>
                        <a:t>0.95</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r h="388440">
                <a:tc>
                  <a:txBody>
                    <a:bodyPr anchor="t">
                      <a:noAutofit/>
                    </a:bodyPr>
                    <a:p>
                      <a:pPr>
                        <a:lnSpc>
                          <a:spcPct val="100000"/>
                        </a:lnSpc>
                        <a:tabLst>
                          <a:tab algn="l" pos="0"/>
                        </a:tabLst>
                      </a:pPr>
                      <a:r>
                        <a:rPr b="1" lang="en-US" sz="1200" spc="-1" strike="noStrike">
                          <a:solidFill>
                            <a:srgbClr val="1a1a2e"/>
                          </a:solidFill>
                          <a:latin typeface="Calibri"/>
                        </a:rPr>
                        <a:t>Overall</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1" lang="en-US" sz="1200" spc="-1" strike="noStrike">
                          <a:solidFill>
                            <a:srgbClr val="1a1a2e"/>
                          </a:solidFill>
                          <a:latin typeface="Calibri"/>
                        </a:rPr>
                        <a:t>0.96</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1" lang="en-US" sz="1200" spc="-1" strike="noStrike">
                          <a:solidFill>
                            <a:srgbClr val="1a1a2e"/>
                          </a:solidFill>
                          <a:latin typeface="Calibri"/>
                        </a:rPr>
                        <a:t>0.96</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c>
                  <a:txBody>
                    <a:bodyPr anchor="t">
                      <a:noAutofit/>
                    </a:bodyPr>
                    <a:p>
                      <a:pPr>
                        <a:lnSpc>
                          <a:spcPct val="100000"/>
                        </a:lnSpc>
                        <a:tabLst>
                          <a:tab algn="l" pos="0"/>
                        </a:tabLst>
                      </a:pPr>
                      <a:r>
                        <a:rPr b="1" lang="en-US" sz="1200" spc="-1" strike="noStrike">
                          <a:solidFill>
                            <a:srgbClr val="1a1a2e"/>
                          </a:solidFill>
                          <a:latin typeface="Calibri"/>
                        </a:rPr>
                        <a:t>0.96</a:t>
                      </a:r>
                      <a:endParaRPr b="0" lang="en-US" sz="1200" spc="-1" strike="noStrike">
                        <a:solidFill>
                          <a:srgbClr val="000000"/>
                        </a:solidFill>
                        <a:latin typeface="Arial"/>
                      </a:endParaRPr>
                    </a:p>
                  </a:txBody>
                  <a:tcPr anchor="t" marL="91440" marR="91440">
                    <a:lnL w="6480">
                      <a:solidFill>
                        <a:srgbClr val="cadcfc"/>
                      </a:solidFill>
                    </a:lnL>
                    <a:lnR w="6480">
                      <a:solidFill>
                        <a:srgbClr val="cadcfc"/>
                      </a:solidFill>
                    </a:lnR>
                    <a:lnT w="6480">
                      <a:solidFill>
                        <a:srgbClr val="cadcfc"/>
                      </a:solidFill>
                    </a:lnT>
                    <a:lnB w="6480">
                      <a:solidFill>
                        <a:srgbClr val="cadcfc"/>
                      </a:solidFill>
                    </a:lnB>
                    <a:solidFill>
                      <a:srgbClr val="eef2ff"/>
                    </a:solidFill>
                  </a:tcPr>
                </a:tc>
              </a:tr>
            </a:tbl>
          </a:graphicData>
        </a:graphic>
      </p:graphicFrame>
      <p:sp>
        <p:nvSpPr>
          <p:cNvPr id="208" name="Text 20"/>
          <p:cNvSpPr/>
          <p:nvPr/>
        </p:nvSpPr>
        <p:spPr>
          <a:xfrm>
            <a:off x="4572000" y="2788920"/>
            <a:ext cx="420588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00" spc="-1" strike="noStrike">
                <a:solidFill>
                  <a:srgbClr val="64748b"/>
                </a:solidFill>
                <a:latin typeface="Calibri"/>
              </a:rPr>
              <a:t>Generated using sklearn classification_report in testing.ipynb</a:t>
            </a:r>
            <a:endParaRPr b="0" lang="en-US" sz="1000" spc="-1" strike="noStrike">
              <a:solidFill>
                <a:srgbClr val="000000"/>
              </a:solidFill>
              <a:latin typeface="Arial"/>
            </a:endParaRPr>
          </a:p>
        </p:txBody>
      </p:sp>
      <p:sp>
        <p:nvSpPr>
          <p:cNvPr id="209" name="Text 21"/>
          <p:cNvSpPr/>
          <p:nvPr/>
        </p:nvSpPr>
        <p:spPr>
          <a:xfrm>
            <a:off x="365760" y="2926080"/>
            <a:ext cx="841212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e2761"/>
                </a:solidFill>
                <a:latin typeface="Calibri"/>
              </a:rPr>
              <a:t>Key Challenges Addressed</a:t>
            </a:r>
            <a:endParaRPr b="0" lang="en-US" sz="1400" spc="-1" strike="noStrike">
              <a:solidFill>
                <a:srgbClr val="000000"/>
              </a:solidFill>
              <a:latin typeface="Arial"/>
            </a:endParaRPr>
          </a:p>
        </p:txBody>
      </p:sp>
      <p:sp>
        <p:nvSpPr>
          <p:cNvPr id="210" name="Shape 22"/>
          <p:cNvSpPr/>
          <p:nvPr/>
        </p:nvSpPr>
        <p:spPr>
          <a:xfrm>
            <a:off x="365760" y="3337560"/>
            <a:ext cx="2559960" cy="82260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1" name="Shape 23"/>
          <p:cNvSpPr/>
          <p:nvPr/>
        </p:nvSpPr>
        <p:spPr>
          <a:xfrm>
            <a:off x="365760" y="3337560"/>
            <a:ext cx="54360" cy="8226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2" name="Text 24"/>
          <p:cNvSpPr/>
          <p:nvPr/>
        </p:nvSpPr>
        <p:spPr>
          <a:xfrm>
            <a:off x="548640" y="3337560"/>
            <a:ext cx="23770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1a1a2e"/>
                </a:solidFill>
                <a:latin typeface="Calibri"/>
              </a:rPr>
              <a:t>Diverse faces across demographics</a:t>
            </a:r>
            <a:endParaRPr b="0" lang="en-US" sz="1200" spc="-1" strike="noStrike">
              <a:solidFill>
                <a:srgbClr val="000000"/>
              </a:solidFill>
              <a:latin typeface="Arial"/>
            </a:endParaRPr>
          </a:p>
        </p:txBody>
      </p:sp>
      <p:sp>
        <p:nvSpPr>
          <p:cNvPr id="213" name="Shape 25"/>
          <p:cNvSpPr/>
          <p:nvPr/>
        </p:nvSpPr>
        <p:spPr>
          <a:xfrm>
            <a:off x="3200400" y="3337560"/>
            <a:ext cx="2559960" cy="82260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4" name="Shape 26"/>
          <p:cNvSpPr/>
          <p:nvPr/>
        </p:nvSpPr>
        <p:spPr>
          <a:xfrm>
            <a:off x="3200400" y="3337560"/>
            <a:ext cx="54360" cy="8226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5" name="Text 27"/>
          <p:cNvSpPr/>
          <p:nvPr/>
        </p:nvSpPr>
        <p:spPr>
          <a:xfrm>
            <a:off x="3383280" y="3337560"/>
            <a:ext cx="23770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1a1a2e"/>
                </a:solidFill>
                <a:latin typeface="Calibri"/>
              </a:rPr>
              <a:t>Indoor &amp; outdoor lighting variation</a:t>
            </a:r>
            <a:endParaRPr b="0" lang="en-US" sz="1200" spc="-1" strike="noStrike">
              <a:solidFill>
                <a:srgbClr val="000000"/>
              </a:solidFill>
              <a:latin typeface="Arial"/>
            </a:endParaRPr>
          </a:p>
        </p:txBody>
      </p:sp>
      <p:sp>
        <p:nvSpPr>
          <p:cNvPr id="216" name="Shape 28"/>
          <p:cNvSpPr/>
          <p:nvPr/>
        </p:nvSpPr>
        <p:spPr>
          <a:xfrm>
            <a:off x="6035040" y="3337560"/>
            <a:ext cx="2559960" cy="82260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7" name="Shape 29"/>
          <p:cNvSpPr/>
          <p:nvPr/>
        </p:nvSpPr>
        <p:spPr>
          <a:xfrm>
            <a:off x="6035040" y="3337560"/>
            <a:ext cx="54360" cy="8226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8" name="Text 30"/>
          <p:cNvSpPr/>
          <p:nvPr/>
        </p:nvSpPr>
        <p:spPr>
          <a:xfrm>
            <a:off x="6217920" y="3337560"/>
            <a:ext cx="23770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1a1a2e"/>
                </a:solidFill>
                <a:latin typeface="Calibri"/>
              </a:rPr>
              <a:t>Surgical, cloth, and N95 mask types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0"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FastAPI Application</a:t>
            </a:r>
            <a:endParaRPr b="0" lang="en-US" sz="2200" spc="-1" strike="noStrike">
              <a:solidFill>
                <a:srgbClr val="000000"/>
              </a:solidFill>
              <a:latin typeface="Arial"/>
            </a:endParaRPr>
          </a:p>
        </p:txBody>
      </p:sp>
      <p:sp>
        <p:nvSpPr>
          <p:cNvPr id="221" name="Shape 2"/>
          <p:cNvSpPr/>
          <p:nvPr/>
        </p:nvSpPr>
        <p:spPr>
          <a:xfrm>
            <a:off x="365760" y="777240"/>
            <a:ext cx="3931560" cy="411444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2" name="Shape 3"/>
          <p:cNvSpPr/>
          <p:nvPr/>
        </p:nvSpPr>
        <p:spPr>
          <a:xfrm>
            <a:off x="365760" y="777240"/>
            <a:ext cx="3931560" cy="38376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3" name="Text 4"/>
          <p:cNvSpPr/>
          <p:nvPr/>
        </p:nvSpPr>
        <p:spPr>
          <a:xfrm>
            <a:off x="411480" y="777240"/>
            <a:ext cx="3840120" cy="3837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POST  /predict  — Full Request Pipeline</a:t>
            </a:r>
            <a:endParaRPr b="0" lang="en-US" sz="1200" spc="-1" strike="noStrike">
              <a:solidFill>
                <a:srgbClr val="000000"/>
              </a:solidFill>
              <a:latin typeface="Arial"/>
            </a:endParaRPr>
          </a:p>
        </p:txBody>
      </p:sp>
      <p:sp>
        <p:nvSpPr>
          <p:cNvPr id="224" name="Shape 5"/>
          <p:cNvSpPr/>
          <p:nvPr/>
        </p:nvSpPr>
        <p:spPr>
          <a:xfrm>
            <a:off x="457200" y="128016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5" name="Text 6"/>
          <p:cNvSpPr/>
          <p:nvPr/>
        </p:nvSpPr>
        <p:spPr>
          <a:xfrm>
            <a:off x="457200" y="128016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1</a:t>
            </a:r>
            <a:endParaRPr b="0" lang="en-US" sz="900" spc="-1" strike="noStrike">
              <a:solidFill>
                <a:srgbClr val="000000"/>
              </a:solidFill>
              <a:latin typeface="Arial"/>
            </a:endParaRPr>
          </a:p>
        </p:txBody>
      </p:sp>
      <p:sp>
        <p:nvSpPr>
          <p:cNvPr id="226" name="Text 7"/>
          <p:cNvSpPr/>
          <p:nvPr/>
        </p:nvSpPr>
        <p:spPr>
          <a:xfrm>
            <a:off x="822960" y="124344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Receive image upload</a:t>
            </a:r>
            <a:endParaRPr b="0" lang="en-US" sz="1100" spc="-1" strike="noStrike">
              <a:solidFill>
                <a:srgbClr val="000000"/>
              </a:solidFill>
              <a:latin typeface="Arial"/>
            </a:endParaRPr>
          </a:p>
        </p:txBody>
      </p:sp>
      <p:sp>
        <p:nvSpPr>
          <p:cNvPr id="227" name="Text 8"/>
          <p:cNvSpPr/>
          <p:nvPr/>
        </p:nvSpPr>
        <p:spPr>
          <a:xfrm>
            <a:off x="822960" y="145404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UploadFile bytes read from multipart form</a:t>
            </a:r>
            <a:endParaRPr b="0" lang="en-US" sz="900" spc="-1" strike="noStrike">
              <a:solidFill>
                <a:srgbClr val="000000"/>
              </a:solidFill>
              <a:latin typeface="Arial"/>
            </a:endParaRPr>
          </a:p>
        </p:txBody>
      </p:sp>
      <p:sp>
        <p:nvSpPr>
          <p:cNvPr id="228" name="Shape 9"/>
          <p:cNvSpPr/>
          <p:nvPr/>
        </p:nvSpPr>
        <p:spPr>
          <a:xfrm>
            <a:off x="457200" y="171000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9" name="Text 10"/>
          <p:cNvSpPr/>
          <p:nvPr/>
        </p:nvSpPr>
        <p:spPr>
          <a:xfrm>
            <a:off x="457200" y="171000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2</a:t>
            </a:r>
            <a:endParaRPr b="0" lang="en-US" sz="900" spc="-1" strike="noStrike">
              <a:solidFill>
                <a:srgbClr val="000000"/>
              </a:solidFill>
              <a:latin typeface="Arial"/>
            </a:endParaRPr>
          </a:p>
        </p:txBody>
      </p:sp>
      <p:sp>
        <p:nvSpPr>
          <p:cNvPr id="230" name="Text 11"/>
          <p:cNvSpPr/>
          <p:nvPr/>
        </p:nvSpPr>
        <p:spPr>
          <a:xfrm>
            <a:off x="822960" y="167328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Decode to PIL Image</a:t>
            </a:r>
            <a:endParaRPr b="0" lang="en-US" sz="1100" spc="-1" strike="noStrike">
              <a:solidFill>
                <a:srgbClr val="000000"/>
              </a:solidFill>
              <a:latin typeface="Arial"/>
            </a:endParaRPr>
          </a:p>
        </p:txBody>
      </p:sp>
      <p:sp>
        <p:nvSpPr>
          <p:cNvPr id="231" name="Text 12"/>
          <p:cNvSpPr/>
          <p:nvPr/>
        </p:nvSpPr>
        <p:spPr>
          <a:xfrm>
            <a:off x="822960" y="188352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Converted to RGB regardless of input format</a:t>
            </a:r>
            <a:endParaRPr b="0" lang="en-US" sz="900" spc="-1" strike="noStrike">
              <a:solidFill>
                <a:srgbClr val="000000"/>
              </a:solidFill>
              <a:latin typeface="Arial"/>
            </a:endParaRPr>
          </a:p>
        </p:txBody>
      </p:sp>
      <p:sp>
        <p:nvSpPr>
          <p:cNvPr id="232" name="Shape 13"/>
          <p:cNvSpPr/>
          <p:nvPr/>
        </p:nvSpPr>
        <p:spPr>
          <a:xfrm>
            <a:off x="457200" y="213984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3" name="Text 14"/>
          <p:cNvSpPr/>
          <p:nvPr/>
        </p:nvSpPr>
        <p:spPr>
          <a:xfrm>
            <a:off x="457200" y="213984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3</a:t>
            </a:r>
            <a:endParaRPr b="0" lang="en-US" sz="900" spc="-1" strike="noStrike">
              <a:solidFill>
                <a:srgbClr val="000000"/>
              </a:solidFill>
              <a:latin typeface="Arial"/>
            </a:endParaRPr>
          </a:p>
        </p:txBody>
      </p:sp>
      <p:sp>
        <p:nvSpPr>
          <p:cNvPr id="234" name="Text 15"/>
          <p:cNvSpPr/>
          <p:nvPr/>
        </p:nvSpPr>
        <p:spPr>
          <a:xfrm>
            <a:off x="822960" y="210312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Face detection (OpenCV)</a:t>
            </a:r>
            <a:endParaRPr b="0" lang="en-US" sz="1100" spc="-1" strike="noStrike">
              <a:solidFill>
                <a:srgbClr val="000000"/>
              </a:solidFill>
              <a:latin typeface="Arial"/>
            </a:endParaRPr>
          </a:p>
        </p:txBody>
      </p:sp>
      <p:sp>
        <p:nvSpPr>
          <p:cNvPr id="235" name="Text 16"/>
          <p:cNvSpPr/>
          <p:nvPr/>
        </p:nvSpPr>
        <p:spPr>
          <a:xfrm>
            <a:off x="822960" y="231336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Haar Cascade on grayscale image; fallback: flipped image retry</a:t>
            </a:r>
            <a:endParaRPr b="0" lang="en-US" sz="900" spc="-1" strike="noStrike">
              <a:solidFill>
                <a:srgbClr val="000000"/>
              </a:solidFill>
              <a:latin typeface="Arial"/>
            </a:endParaRPr>
          </a:p>
        </p:txBody>
      </p:sp>
      <p:sp>
        <p:nvSpPr>
          <p:cNvPr id="236" name="Shape 17"/>
          <p:cNvSpPr/>
          <p:nvPr/>
        </p:nvSpPr>
        <p:spPr>
          <a:xfrm>
            <a:off x="457200" y="256932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Text 18"/>
          <p:cNvSpPr/>
          <p:nvPr/>
        </p:nvSpPr>
        <p:spPr>
          <a:xfrm>
            <a:off x="457200" y="256932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4</a:t>
            </a:r>
            <a:endParaRPr b="0" lang="en-US" sz="900" spc="-1" strike="noStrike">
              <a:solidFill>
                <a:srgbClr val="000000"/>
              </a:solidFill>
              <a:latin typeface="Arial"/>
            </a:endParaRPr>
          </a:p>
        </p:txBody>
      </p:sp>
      <p:sp>
        <p:nvSpPr>
          <p:cNvPr id="238" name="Text 19"/>
          <p:cNvSpPr/>
          <p:nvPr/>
        </p:nvSpPr>
        <p:spPr>
          <a:xfrm>
            <a:off x="822960" y="253296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Crop &amp; pad face region</a:t>
            </a:r>
            <a:endParaRPr b="0" lang="en-US" sz="1100" spc="-1" strike="noStrike">
              <a:solidFill>
                <a:srgbClr val="000000"/>
              </a:solidFill>
              <a:latin typeface="Arial"/>
            </a:endParaRPr>
          </a:p>
        </p:txBody>
      </p:sp>
      <p:sp>
        <p:nvSpPr>
          <p:cNvPr id="239" name="Text 20"/>
          <p:cNvSpPr/>
          <p:nvPr/>
        </p:nvSpPr>
        <p:spPr>
          <a:xfrm>
            <a:off x="822960" y="274320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+35% padding around detected bounding box</a:t>
            </a:r>
            <a:endParaRPr b="0" lang="en-US" sz="900" spc="-1" strike="noStrike">
              <a:solidFill>
                <a:srgbClr val="000000"/>
              </a:solidFill>
              <a:latin typeface="Arial"/>
            </a:endParaRPr>
          </a:p>
        </p:txBody>
      </p:sp>
      <p:sp>
        <p:nvSpPr>
          <p:cNvPr id="240" name="Shape 21"/>
          <p:cNvSpPr/>
          <p:nvPr/>
        </p:nvSpPr>
        <p:spPr>
          <a:xfrm>
            <a:off x="457200" y="299916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1" name="Text 22"/>
          <p:cNvSpPr/>
          <p:nvPr/>
        </p:nvSpPr>
        <p:spPr>
          <a:xfrm>
            <a:off x="457200" y="299916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5</a:t>
            </a:r>
            <a:endParaRPr b="0" lang="en-US" sz="900" spc="-1" strike="noStrike">
              <a:solidFill>
                <a:srgbClr val="000000"/>
              </a:solidFill>
              <a:latin typeface="Arial"/>
            </a:endParaRPr>
          </a:p>
        </p:txBody>
      </p:sp>
      <p:sp>
        <p:nvSpPr>
          <p:cNvPr id="242" name="Text 23"/>
          <p:cNvSpPr/>
          <p:nvPr/>
        </p:nvSpPr>
        <p:spPr>
          <a:xfrm>
            <a:off x="822960" y="296280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Preprocess for model</a:t>
            </a:r>
            <a:endParaRPr b="0" lang="en-US" sz="1100" spc="-1" strike="noStrike">
              <a:solidFill>
                <a:srgbClr val="000000"/>
              </a:solidFill>
              <a:latin typeface="Arial"/>
            </a:endParaRPr>
          </a:p>
        </p:txBody>
      </p:sp>
      <p:sp>
        <p:nvSpPr>
          <p:cNvPr id="243" name="Text 24"/>
          <p:cNvSpPr/>
          <p:nvPr/>
        </p:nvSpPr>
        <p:spPr>
          <a:xfrm>
            <a:off x="822960" y="317304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Resize to 224x224 → ToTensor → batch unsqueeze</a:t>
            </a:r>
            <a:endParaRPr b="0" lang="en-US" sz="900" spc="-1" strike="noStrike">
              <a:solidFill>
                <a:srgbClr val="000000"/>
              </a:solidFill>
              <a:latin typeface="Arial"/>
            </a:endParaRPr>
          </a:p>
        </p:txBody>
      </p:sp>
      <p:sp>
        <p:nvSpPr>
          <p:cNvPr id="244" name="Shape 25"/>
          <p:cNvSpPr/>
          <p:nvPr/>
        </p:nvSpPr>
        <p:spPr>
          <a:xfrm>
            <a:off x="457200" y="342900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5" name="Text 26"/>
          <p:cNvSpPr/>
          <p:nvPr/>
        </p:nvSpPr>
        <p:spPr>
          <a:xfrm>
            <a:off x="457200" y="342900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6</a:t>
            </a:r>
            <a:endParaRPr b="0" lang="en-US" sz="900" spc="-1" strike="noStrike">
              <a:solidFill>
                <a:srgbClr val="000000"/>
              </a:solidFill>
              <a:latin typeface="Arial"/>
            </a:endParaRPr>
          </a:p>
        </p:txBody>
      </p:sp>
      <p:sp>
        <p:nvSpPr>
          <p:cNvPr id="246" name="Text 27"/>
          <p:cNvSpPr/>
          <p:nvPr/>
        </p:nvSpPr>
        <p:spPr>
          <a:xfrm>
            <a:off x="822960" y="339228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MobileNetV2 inference</a:t>
            </a:r>
            <a:endParaRPr b="0" lang="en-US" sz="1100" spc="-1" strike="noStrike">
              <a:solidFill>
                <a:srgbClr val="000000"/>
              </a:solidFill>
              <a:latin typeface="Arial"/>
            </a:endParaRPr>
          </a:p>
        </p:txBody>
      </p:sp>
      <p:sp>
        <p:nvSpPr>
          <p:cNvPr id="247" name="Text 28"/>
          <p:cNvSpPr/>
          <p:nvPr/>
        </p:nvSpPr>
        <p:spPr>
          <a:xfrm>
            <a:off x="822960" y="360288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torch.no_grad() → softmax → argmax</a:t>
            </a:r>
            <a:endParaRPr b="0" lang="en-US" sz="900" spc="-1" strike="noStrike">
              <a:solidFill>
                <a:srgbClr val="000000"/>
              </a:solidFill>
              <a:latin typeface="Arial"/>
            </a:endParaRPr>
          </a:p>
        </p:txBody>
      </p:sp>
      <p:sp>
        <p:nvSpPr>
          <p:cNvPr id="248" name="Shape 29"/>
          <p:cNvSpPr/>
          <p:nvPr/>
        </p:nvSpPr>
        <p:spPr>
          <a:xfrm>
            <a:off x="457200" y="3858840"/>
            <a:ext cx="273960" cy="2739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9" name="Text 30"/>
          <p:cNvSpPr/>
          <p:nvPr/>
        </p:nvSpPr>
        <p:spPr>
          <a:xfrm>
            <a:off x="457200" y="3858840"/>
            <a:ext cx="27396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900" spc="-1" strike="noStrike">
                <a:solidFill>
                  <a:srgbClr val="ffffff"/>
                </a:solidFill>
                <a:latin typeface="Calibri"/>
              </a:rPr>
              <a:t>7</a:t>
            </a:r>
            <a:endParaRPr b="0" lang="en-US" sz="900" spc="-1" strike="noStrike">
              <a:solidFill>
                <a:srgbClr val="000000"/>
              </a:solidFill>
              <a:latin typeface="Arial"/>
            </a:endParaRPr>
          </a:p>
        </p:txBody>
      </p:sp>
      <p:sp>
        <p:nvSpPr>
          <p:cNvPr id="250" name="Text 31"/>
          <p:cNvSpPr/>
          <p:nvPr/>
        </p:nvSpPr>
        <p:spPr>
          <a:xfrm>
            <a:off x="822960" y="3822120"/>
            <a:ext cx="3291480" cy="228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1e2761"/>
                </a:solidFill>
                <a:latin typeface="Calibri"/>
              </a:rPr>
              <a:t>Return structured response</a:t>
            </a:r>
            <a:endParaRPr b="0" lang="en-US" sz="1100" spc="-1" strike="noStrike">
              <a:solidFill>
                <a:srgbClr val="000000"/>
              </a:solidFill>
              <a:latin typeface="Arial"/>
            </a:endParaRPr>
          </a:p>
        </p:txBody>
      </p:sp>
      <p:sp>
        <p:nvSpPr>
          <p:cNvPr id="251" name="Text 32"/>
          <p:cNvSpPr/>
          <p:nvPr/>
        </p:nvSpPr>
        <p:spPr>
          <a:xfrm>
            <a:off x="822960" y="4032360"/>
            <a:ext cx="3291480" cy="20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900" spc="-1" strike="noStrike">
                <a:solidFill>
                  <a:srgbClr val="64748b"/>
                </a:solidFill>
                <a:latin typeface="Calibri"/>
              </a:rPr>
              <a:t>status + action + confidence + probabilities</a:t>
            </a:r>
            <a:endParaRPr b="0" lang="en-US" sz="900" spc="-1" strike="noStrike">
              <a:solidFill>
                <a:srgbClr val="000000"/>
              </a:solidFill>
              <a:latin typeface="Arial"/>
            </a:endParaRPr>
          </a:p>
        </p:txBody>
      </p:sp>
      <p:sp>
        <p:nvSpPr>
          <p:cNvPr id="252" name="Shape 33"/>
          <p:cNvSpPr/>
          <p:nvPr/>
        </p:nvSpPr>
        <p:spPr>
          <a:xfrm>
            <a:off x="4846320" y="777240"/>
            <a:ext cx="3931560" cy="2102760"/>
          </a:xfrm>
          <a:prstGeom prst="rect">
            <a:avLst/>
          </a:prstGeom>
          <a:solidFill>
            <a:srgbClr val="1a1a2e"/>
          </a:solidFill>
          <a:ln w="12700">
            <a:solidFill>
              <a:srgbClr val="1a1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3" name="Text 34"/>
          <p:cNvSpPr/>
          <p:nvPr/>
        </p:nvSpPr>
        <p:spPr>
          <a:xfrm>
            <a:off x="4937760" y="804600"/>
            <a:ext cx="3748680" cy="2923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cadcfc"/>
                </a:solidFill>
                <a:latin typeface="Calibri"/>
              </a:rPr>
              <a:t>API Response</a:t>
            </a:r>
            <a:endParaRPr b="0" lang="en-US" sz="1200" spc="-1" strike="noStrike">
              <a:solidFill>
                <a:srgbClr val="000000"/>
              </a:solidFill>
              <a:latin typeface="Arial"/>
            </a:endParaRPr>
          </a:p>
        </p:txBody>
      </p:sp>
      <p:sp>
        <p:nvSpPr>
          <p:cNvPr id="254" name="Text 35"/>
          <p:cNvSpPr/>
          <p:nvPr/>
        </p:nvSpPr>
        <p:spPr>
          <a:xfrm>
            <a:off x="4937760" y="1115640"/>
            <a:ext cx="3748680" cy="1645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4a90d9"/>
                </a:solidFill>
                <a:latin typeface="Courier New"/>
                <a:ea typeface="Courier New"/>
              </a:rPr>
              <a:t>{</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"status":      "mask_on",</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"action":      "Allow entry",</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"confidence":  0.96,</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"probabilities": {</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"WithMask":    0.96,</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"WithoutMask": 0.04</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  </a:t>
            </a:r>
            <a:r>
              <a:rPr b="0" lang="en-US" sz="1000" spc="-1" strike="noStrike">
                <a:solidFill>
                  <a:srgbClr val="4a90d9"/>
                </a:solidFill>
                <a:latin typeface="Courier New"/>
                <a:ea typeface="Courier New"/>
              </a:rPr>
              <a:t>}</a:t>
            </a:r>
            <a:endParaRPr b="0" lang="en-US" sz="1000" spc="-1" strike="noStrike">
              <a:solidFill>
                <a:srgbClr val="000000"/>
              </a:solidFill>
              <a:latin typeface="Arial"/>
            </a:endParaRPr>
          </a:p>
          <a:p>
            <a:pPr>
              <a:lnSpc>
                <a:spcPct val="100000"/>
              </a:lnSpc>
              <a:tabLst>
                <a:tab algn="l" pos="0"/>
              </a:tabLst>
            </a:pPr>
            <a:r>
              <a:rPr b="0" lang="en-US" sz="1000" spc="-1" strike="noStrike">
                <a:solidFill>
                  <a:srgbClr val="4a90d9"/>
                </a:solidFill>
                <a:latin typeface="Courier New"/>
                <a:ea typeface="Courier New"/>
              </a:rPr>
              <a:t>}</a:t>
            </a:r>
            <a:endParaRPr b="0" lang="en-US" sz="1000" spc="-1" strike="noStrike">
              <a:solidFill>
                <a:srgbClr val="000000"/>
              </a:solidFill>
              <a:latin typeface="Arial"/>
            </a:endParaRPr>
          </a:p>
        </p:txBody>
      </p:sp>
      <p:sp>
        <p:nvSpPr>
          <p:cNvPr id="255" name="Shape 36"/>
          <p:cNvSpPr/>
          <p:nvPr/>
        </p:nvSpPr>
        <p:spPr>
          <a:xfrm>
            <a:off x="4846320" y="3017520"/>
            <a:ext cx="3931560" cy="18741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6" name="Shape 37"/>
          <p:cNvSpPr/>
          <p:nvPr/>
        </p:nvSpPr>
        <p:spPr>
          <a:xfrm>
            <a:off x="4846320" y="3017520"/>
            <a:ext cx="3931560" cy="34704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Text 38"/>
          <p:cNvSpPr/>
          <p:nvPr/>
        </p:nvSpPr>
        <p:spPr>
          <a:xfrm>
            <a:off x="4846320" y="3017520"/>
            <a:ext cx="3931560" cy="347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200" spc="-1" strike="noStrike">
                <a:solidFill>
                  <a:srgbClr val="ffffff"/>
                </a:solidFill>
                <a:latin typeface="Calibri"/>
              </a:rPr>
              <a:t>Built-in Web Interface</a:t>
            </a:r>
            <a:endParaRPr b="0" lang="en-US" sz="1200" spc="-1" strike="noStrike">
              <a:solidFill>
                <a:srgbClr val="000000"/>
              </a:solidFill>
              <a:latin typeface="Arial"/>
            </a:endParaRPr>
          </a:p>
        </p:txBody>
      </p:sp>
      <p:sp>
        <p:nvSpPr>
          <p:cNvPr id="258" name="Text 39"/>
          <p:cNvSpPr/>
          <p:nvPr/>
        </p:nvSpPr>
        <p:spPr>
          <a:xfrm>
            <a:off x="4983480" y="3410640"/>
            <a:ext cx="3657240" cy="141696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1a1a2e"/>
              </a:buClr>
              <a:buFont typeface="Symbol" charset="2"/>
              <a:buChar char=""/>
            </a:pPr>
            <a:r>
              <a:rPr b="0" lang="en-US" sz="1100" spc="-1" strike="noStrike">
                <a:solidFill>
                  <a:srgbClr val="1a1a2e"/>
                </a:solidFill>
                <a:latin typeface="Calibri"/>
              </a:rPr>
              <a:t>Live webcam capture — mirror-corrected for natural UX</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Image file upload for testing saved photos</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Face detection fallback: retries on horizontally flipped image</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Inline guidelines for best capture quality</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9" name="Shape 0"/>
          <p:cNvSpPr/>
          <p:nvPr/>
        </p:nvSpPr>
        <p:spPr>
          <a:xfrm>
            <a:off x="0" y="0"/>
            <a:ext cx="9143640" cy="63972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Text 1"/>
          <p:cNvSpPr/>
          <p:nvPr/>
        </p:nvSpPr>
        <p:spPr>
          <a:xfrm>
            <a:off x="365760" y="0"/>
            <a:ext cx="84121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200" spc="-1" strike="noStrike">
                <a:solidFill>
                  <a:srgbClr val="ffffff"/>
                </a:solidFill>
                <a:latin typeface="Calibri"/>
              </a:rPr>
              <a:t>Deployment &amp; Testing</a:t>
            </a:r>
            <a:endParaRPr b="0" lang="en-US" sz="2200" spc="-1" strike="noStrike">
              <a:solidFill>
                <a:srgbClr val="000000"/>
              </a:solidFill>
              <a:latin typeface="Arial"/>
            </a:endParaRPr>
          </a:p>
        </p:txBody>
      </p:sp>
      <p:sp>
        <p:nvSpPr>
          <p:cNvPr id="261" name="Shape 2"/>
          <p:cNvSpPr/>
          <p:nvPr/>
        </p:nvSpPr>
        <p:spPr>
          <a:xfrm>
            <a:off x="365760" y="777240"/>
            <a:ext cx="3931560" cy="30171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2" name="Shape 3"/>
          <p:cNvSpPr/>
          <p:nvPr/>
        </p:nvSpPr>
        <p:spPr>
          <a:xfrm>
            <a:off x="365760" y="777240"/>
            <a:ext cx="3931560" cy="38376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3" name="Text 4"/>
          <p:cNvSpPr/>
          <p:nvPr/>
        </p:nvSpPr>
        <p:spPr>
          <a:xfrm>
            <a:off x="365760" y="777240"/>
            <a:ext cx="39315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200" spc="-1" strike="noStrike">
                <a:solidFill>
                  <a:srgbClr val="ffffff"/>
                </a:solidFill>
                <a:latin typeface="Calibri"/>
              </a:rPr>
              <a:t>Docker — What It Does For This Project</a:t>
            </a:r>
            <a:endParaRPr b="0" lang="en-US" sz="1200" spc="-1" strike="noStrike">
              <a:solidFill>
                <a:srgbClr val="000000"/>
              </a:solidFill>
              <a:latin typeface="Arial"/>
            </a:endParaRPr>
          </a:p>
        </p:txBody>
      </p:sp>
      <p:sp>
        <p:nvSpPr>
          <p:cNvPr id="264" name="Text 5"/>
          <p:cNvSpPr/>
          <p:nvPr/>
        </p:nvSpPr>
        <p:spPr>
          <a:xfrm>
            <a:off x="502920" y="1234440"/>
            <a:ext cx="3657240" cy="237708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1a1a2e"/>
              </a:buClr>
              <a:buFont typeface="Symbol" charset="2"/>
              <a:buChar char=""/>
            </a:pPr>
            <a:r>
              <a:rPr b="0" lang="en-US" sz="1100" spc="-1" strike="noStrike">
                <a:solidFill>
                  <a:srgbClr val="1a1a2e"/>
                </a:solidFill>
                <a:latin typeface="Calibri"/>
              </a:rPr>
              <a:t>Packages code + Python + all libraries into one portable container</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Anyone can run it on any machine without manual pip installs</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Base: python:3.10-slim (minimal size)</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OpenCV headless — no display/GUI required on server</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PyTorch + torchvision + FastAPI + uvicorn</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Copies main.py + mask_detector.pth into the container</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Exposes port 8000 — API accessible from any browser</a:t>
            </a:r>
            <a:endParaRPr b="0" lang="en-US" sz="1100" spc="-1" strike="noStrike">
              <a:solidFill>
                <a:srgbClr val="000000"/>
              </a:solidFill>
              <a:latin typeface="Arial"/>
            </a:endParaRPr>
          </a:p>
        </p:txBody>
      </p:sp>
      <p:sp>
        <p:nvSpPr>
          <p:cNvPr id="265" name="Shape 6"/>
          <p:cNvSpPr/>
          <p:nvPr/>
        </p:nvSpPr>
        <p:spPr>
          <a:xfrm>
            <a:off x="365760" y="3886200"/>
            <a:ext cx="3931560" cy="658080"/>
          </a:xfrm>
          <a:prstGeom prst="rect">
            <a:avLst/>
          </a:prstGeom>
          <a:solidFill>
            <a:srgbClr val="1a1a2e"/>
          </a:solidFill>
          <a:ln w="12700">
            <a:solidFill>
              <a:srgbClr val="1a1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6" name="Text 7"/>
          <p:cNvSpPr/>
          <p:nvPr/>
        </p:nvSpPr>
        <p:spPr>
          <a:xfrm>
            <a:off x="457200" y="3913560"/>
            <a:ext cx="3748680" cy="5940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4a90d9"/>
                </a:solidFill>
                <a:latin typeface="Courier New"/>
                <a:ea typeface="Courier New"/>
              </a:rPr>
              <a:t>docker build -t mask-detector .</a:t>
            </a:r>
            <a:endParaRPr b="0" lang="en-US" sz="1100" spc="-1" strike="noStrike">
              <a:solidFill>
                <a:srgbClr val="000000"/>
              </a:solidFill>
              <a:latin typeface="Arial"/>
            </a:endParaRPr>
          </a:p>
          <a:p>
            <a:pPr>
              <a:lnSpc>
                <a:spcPct val="100000"/>
              </a:lnSpc>
              <a:tabLst>
                <a:tab algn="l" pos="0"/>
              </a:tabLst>
            </a:pPr>
            <a:r>
              <a:rPr b="0" lang="en-US" sz="1100" spc="-1" strike="noStrike">
                <a:solidFill>
                  <a:srgbClr val="4a90d9"/>
                </a:solidFill>
                <a:latin typeface="Courier New"/>
                <a:ea typeface="Courier New"/>
              </a:rPr>
              <a:t>docker run -p 8000:8000 mask-detector</a:t>
            </a:r>
            <a:endParaRPr b="0" lang="en-US" sz="1100" spc="-1" strike="noStrike">
              <a:solidFill>
                <a:srgbClr val="000000"/>
              </a:solidFill>
              <a:latin typeface="Arial"/>
            </a:endParaRPr>
          </a:p>
        </p:txBody>
      </p:sp>
      <p:sp>
        <p:nvSpPr>
          <p:cNvPr id="267" name="Shape 8"/>
          <p:cNvSpPr/>
          <p:nvPr/>
        </p:nvSpPr>
        <p:spPr>
          <a:xfrm>
            <a:off x="4846320" y="777240"/>
            <a:ext cx="3931560" cy="3017160"/>
          </a:xfrm>
          <a:prstGeom prst="rect">
            <a:avLst/>
          </a:prstGeom>
          <a:solidFill>
            <a:srgbClr val="eef2ff"/>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8" name="Shape 9"/>
          <p:cNvSpPr/>
          <p:nvPr/>
        </p:nvSpPr>
        <p:spPr>
          <a:xfrm>
            <a:off x="4846320" y="777240"/>
            <a:ext cx="3931560" cy="383760"/>
          </a:xfrm>
          <a:prstGeom prst="rect">
            <a:avLst/>
          </a:prstGeom>
          <a:solidFill>
            <a:srgbClr val="1e2761"/>
          </a:solidFill>
          <a:ln w="12700">
            <a:solidFill>
              <a:srgbClr val="1e276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9" name="Text 10"/>
          <p:cNvSpPr/>
          <p:nvPr/>
        </p:nvSpPr>
        <p:spPr>
          <a:xfrm>
            <a:off x="4846320" y="777240"/>
            <a:ext cx="39315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200" spc="-1" strike="noStrike">
                <a:solidFill>
                  <a:srgbClr val="ffffff"/>
                </a:solidFill>
                <a:latin typeface="Calibri"/>
              </a:rPr>
              <a:t>test_api.py — Automated Testing</a:t>
            </a:r>
            <a:endParaRPr b="0" lang="en-US" sz="1200" spc="-1" strike="noStrike">
              <a:solidFill>
                <a:srgbClr val="000000"/>
              </a:solidFill>
              <a:latin typeface="Arial"/>
            </a:endParaRPr>
          </a:p>
        </p:txBody>
      </p:sp>
      <p:sp>
        <p:nvSpPr>
          <p:cNvPr id="270" name="Text 11"/>
          <p:cNvSpPr/>
          <p:nvPr/>
        </p:nvSpPr>
        <p:spPr>
          <a:xfrm>
            <a:off x="4983480" y="1234440"/>
            <a:ext cx="3657240" cy="237708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1a1a2e"/>
              </a:buClr>
              <a:buFont typeface="Symbol" charset="2"/>
              <a:buChar char=""/>
            </a:pPr>
            <a:r>
              <a:rPr b="0" lang="en-US" sz="1100" spc="-1" strike="noStrike">
                <a:solidFill>
                  <a:srgbClr val="1a1a2e"/>
                </a:solidFill>
                <a:latin typeface="Calibri"/>
              </a:rPr>
              <a:t>Verifies server is live before running any tests</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Reads all .jpg/.png images from 'Real-World Testing data/' folder automatically</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Sends each image to /predict as a multipart POST request</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Prints status, action, confidence, and probabilities per image</a:t>
            </a:r>
            <a:endParaRPr b="0" lang="en-US" sz="1100" spc="-1" strike="noStrike">
              <a:solidFill>
                <a:srgbClr val="000000"/>
              </a:solidFill>
              <a:latin typeface="Arial"/>
            </a:endParaRPr>
          </a:p>
          <a:p>
            <a:pPr marL="343080" indent="-343080">
              <a:lnSpc>
                <a:spcPct val="100000"/>
              </a:lnSpc>
              <a:buClr>
                <a:srgbClr val="1a1a2e"/>
              </a:buClr>
              <a:buFont typeface="Symbol" charset="2"/>
              <a:buChar char=""/>
            </a:pPr>
            <a:r>
              <a:rPr b="0" lang="en-US" sz="1100" spc="-1" strike="noStrike">
                <a:solidFill>
                  <a:srgbClr val="1a1a2e"/>
                </a:solidFill>
                <a:latin typeface="Calibri"/>
              </a:rPr>
              <a:t>Final summary: X passed / Y failed — no false positives observed</a:t>
            </a:r>
            <a:endParaRPr b="0" lang="en-US" sz="1100" spc="-1" strike="noStrike">
              <a:solidFill>
                <a:srgbClr val="000000"/>
              </a:solidFill>
              <a:latin typeface="Arial"/>
            </a:endParaRPr>
          </a:p>
        </p:txBody>
      </p:sp>
      <p:sp>
        <p:nvSpPr>
          <p:cNvPr id="271" name="Shape 12"/>
          <p:cNvSpPr/>
          <p:nvPr/>
        </p:nvSpPr>
        <p:spPr>
          <a:xfrm>
            <a:off x="4846320" y="3886200"/>
            <a:ext cx="3931560" cy="658080"/>
          </a:xfrm>
          <a:prstGeom prst="rect">
            <a:avLst/>
          </a:prstGeom>
          <a:solidFill>
            <a:srgbClr val="1a1a2e"/>
          </a:solidFill>
          <a:ln w="12700">
            <a:solidFill>
              <a:srgbClr val="1a1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Text 13"/>
          <p:cNvSpPr/>
          <p:nvPr/>
        </p:nvSpPr>
        <p:spPr>
          <a:xfrm>
            <a:off x="4937760" y="3913560"/>
            <a:ext cx="3748680" cy="5940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4a90d9"/>
                </a:solidFill>
                <a:latin typeface="Courier New"/>
                <a:ea typeface="Courier New"/>
              </a:rPr>
              <a:t>pip install requests</a:t>
            </a:r>
            <a:endParaRPr b="0" lang="en-US" sz="1100" spc="-1" strike="noStrike">
              <a:solidFill>
                <a:srgbClr val="000000"/>
              </a:solidFill>
              <a:latin typeface="Arial"/>
            </a:endParaRPr>
          </a:p>
          <a:p>
            <a:pPr>
              <a:lnSpc>
                <a:spcPct val="100000"/>
              </a:lnSpc>
              <a:tabLst>
                <a:tab algn="l" pos="0"/>
              </a:tabLst>
            </a:pPr>
            <a:r>
              <a:rPr b="0" lang="en-US" sz="1100" spc="-1" strike="noStrike">
                <a:solidFill>
                  <a:srgbClr val="4a90d9"/>
                </a:solidFill>
                <a:latin typeface="Courier New"/>
                <a:ea typeface="Courier New"/>
              </a:rPr>
              <a:t>python test_api.py</a:t>
            </a:r>
            <a:endParaRPr b="0" lang="en-US" sz="1100" spc="-1" strike="noStrike">
              <a:solidFill>
                <a:srgbClr val="000000"/>
              </a:solidFill>
              <a:latin typeface="Arial"/>
            </a:endParaRPr>
          </a:p>
        </p:txBody>
      </p:sp>
      <p:sp>
        <p:nvSpPr>
          <p:cNvPr id="273" name="Shape 14"/>
          <p:cNvSpPr/>
          <p:nvPr/>
        </p:nvSpPr>
        <p:spPr>
          <a:xfrm>
            <a:off x="365760" y="4663440"/>
            <a:ext cx="8412120" cy="411120"/>
          </a:xfrm>
          <a:prstGeom prst="rect">
            <a:avLst/>
          </a:prstGeom>
          <a:solidFill>
            <a:srgbClr val="e8f5e9"/>
          </a:solidFill>
          <a:ln w="12700">
            <a:solidFill>
              <a:srgbClr val="22c55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4" name="Text 15"/>
          <p:cNvSpPr/>
          <p:nvPr/>
        </p:nvSpPr>
        <p:spPr>
          <a:xfrm>
            <a:off x="365760" y="4663440"/>
            <a:ext cx="8412120" cy="411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200" spc="-1" strike="noStrike">
                <a:solidFill>
                  <a:srgbClr val="1b5e20"/>
                </a:solidFill>
                <a:latin typeface="Calibri"/>
              </a:rPr>
              <a:t>18 real-world images tested  —  18 passed  |  0 failed  |  Confidence range: 0.76 – 1.00</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275" name="Shape 0"/>
          <p:cNvSpPr/>
          <p:nvPr/>
        </p:nvSpPr>
        <p:spPr>
          <a:xfrm>
            <a:off x="0" y="0"/>
            <a:ext cx="9143640" cy="72720"/>
          </a:xfrm>
          <a:prstGeom prst="rect">
            <a:avLst/>
          </a:prstGeom>
          <a:solidFill>
            <a:srgbClr val="4a90d9"/>
          </a:solidFill>
          <a:ln w="12700">
            <a:solidFill>
              <a:srgbClr val="4a90d9"/>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276" name="Text 1"/>
          <p:cNvSpPr/>
          <p:nvPr/>
        </p:nvSpPr>
        <p:spPr>
          <a:xfrm>
            <a:off x="457200" y="164520"/>
            <a:ext cx="8229240" cy="594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3400" spc="-1" strike="noStrike">
                <a:solidFill>
                  <a:srgbClr val="ffffff"/>
                </a:solidFill>
                <a:latin typeface="Calibri"/>
              </a:rPr>
              <a:t>Live Demo</a:t>
            </a:r>
            <a:endParaRPr b="0" lang="en-US" sz="3400" spc="-1" strike="noStrike">
              <a:solidFill>
                <a:srgbClr val="ffffff"/>
              </a:solidFill>
              <a:latin typeface="Arial"/>
            </a:endParaRPr>
          </a:p>
        </p:txBody>
      </p:sp>
      <p:sp>
        <p:nvSpPr>
          <p:cNvPr id="277" name="Text 2"/>
          <p:cNvSpPr/>
          <p:nvPr/>
        </p:nvSpPr>
        <p:spPr>
          <a:xfrm>
            <a:off x="457200" y="804600"/>
            <a:ext cx="82292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300" spc="-1" strike="noStrike">
                <a:solidFill>
                  <a:srgbClr val="cadcfc"/>
                </a:solidFill>
                <a:latin typeface="Calibri"/>
              </a:rPr>
              <a:t>Open your browser at:</a:t>
            </a:r>
            <a:endParaRPr b="0" lang="en-US" sz="1300" spc="-1" strike="noStrike">
              <a:solidFill>
                <a:srgbClr val="ffffff"/>
              </a:solidFill>
              <a:latin typeface="Arial"/>
            </a:endParaRPr>
          </a:p>
        </p:txBody>
      </p:sp>
      <p:sp>
        <p:nvSpPr>
          <p:cNvPr id="278" name="Shape 3"/>
          <p:cNvSpPr/>
          <p:nvPr/>
        </p:nvSpPr>
        <p:spPr>
          <a:xfrm>
            <a:off x="2286000" y="1097280"/>
            <a:ext cx="4571640" cy="456840"/>
          </a:xfrm>
          <a:prstGeom prst="rect">
            <a:avLst/>
          </a:prstGeom>
          <a:solidFill>
            <a:srgbClr val="1a1a2e"/>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Text 4"/>
          <p:cNvSpPr/>
          <p:nvPr/>
        </p:nvSpPr>
        <p:spPr>
          <a:xfrm>
            <a:off x="2286000" y="1097280"/>
            <a:ext cx="45716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pc="-1" strike="noStrike">
                <a:solidFill>
                  <a:srgbClr val="4a90d9"/>
                </a:solidFill>
                <a:latin typeface="Courier New"/>
                <a:ea typeface="Courier New"/>
              </a:rPr>
              <a:t>http://127.0.0.1:8000</a:t>
            </a:r>
            <a:endParaRPr b="0" lang="en-US" sz="1800" spc="-1" strike="noStrike">
              <a:solidFill>
                <a:srgbClr val="ffffff"/>
              </a:solidFill>
              <a:latin typeface="Arial"/>
            </a:endParaRPr>
          </a:p>
        </p:txBody>
      </p:sp>
      <p:sp>
        <p:nvSpPr>
          <p:cNvPr id="280" name="Shape 5"/>
          <p:cNvSpPr/>
          <p:nvPr/>
        </p:nvSpPr>
        <p:spPr>
          <a:xfrm>
            <a:off x="365760" y="1792080"/>
            <a:ext cx="383760" cy="3837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1" name="Text 6"/>
          <p:cNvSpPr/>
          <p:nvPr/>
        </p:nvSpPr>
        <p:spPr>
          <a:xfrm>
            <a:off x="365760" y="1792080"/>
            <a:ext cx="3837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1</a:t>
            </a:r>
            <a:endParaRPr b="0" lang="en-US" sz="1400" spc="-1" strike="noStrike">
              <a:solidFill>
                <a:srgbClr val="ffffff"/>
              </a:solidFill>
              <a:latin typeface="Arial"/>
            </a:endParaRPr>
          </a:p>
        </p:txBody>
      </p:sp>
      <p:sp>
        <p:nvSpPr>
          <p:cNvPr id="282" name="Shape 7"/>
          <p:cNvSpPr/>
          <p:nvPr/>
        </p:nvSpPr>
        <p:spPr>
          <a:xfrm>
            <a:off x="914400" y="1719000"/>
            <a:ext cx="7863480" cy="566640"/>
          </a:xfrm>
          <a:prstGeom prst="rect">
            <a:avLst/>
          </a:prstGeom>
          <a:solidFill>
            <a:srgbClr val="ffffff">
              <a:alpha val="12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3" name="Text 8"/>
          <p:cNvSpPr/>
          <p:nvPr/>
        </p:nvSpPr>
        <p:spPr>
          <a:xfrm>
            <a:off x="1051560" y="1755720"/>
            <a:ext cx="201132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Start the Server</a:t>
            </a:r>
            <a:endParaRPr b="0" lang="en-US" sz="1200" spc="-1" strike="noStrike">
              <a:solidFill>
                <a:srgbClr val="ffffff"/>
              </a:solidFill>
              <a:latin typeface="Arial"/>
            </a:endParaRPr>
          </a:p>
        </p:txBody>
      </p:sp>
      <p:sp>
        <p:nvSpPr>
          <p:cNvPr id="284" name="Text 9"/>
          <p:cNvSpPr/>
          <p:nvPr/>
        </p:nvSpPr>
        <p:spPr>
          <a:xfrm>
            <a:off x="3108960" y="1737360"/>
            <a:ext cx="5577480" cy="529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cadcfc"/>
                </a:solidFill>
                <a:latin typeface="Calibri"/>
              </a:rPr>
              <a:t>Run:  uvicorn main:app --port 8000</a:t>
            </a:r>
            <a:endParaRPr b="0" lang="en-US" sz="1000" spc="-1" strike="noStrike">
              <a:solidFill>
                <a:srgbClr val="ffffff"/>
              </a:solidFill>
              <a:latin typeface="Arial"/>
            </a:endParaRPr>
          </a:p>
          <a:p>
            <a:pPr>
              <a:lnSpc>
                <a:spcPct val="100000"/>
              </a:lnSpc>
              <a:tabLst>
                <a:tab algn="l" pos="0"/>
              </a:tabLst>
            </a:pPr>
            <a:r>
              <a:rPr b="0" lang="en-US" sz="1000" spc="-1" strike="noStrike">
                <a:solidFill>
                  <a:srgbClr val="cadcfc"/>
                </a:solidFill>
                <a:latin typeface="Calibri"/>
              </a:rPr>
              <a:t>Wait for 'Application startup complete'</a:t>
            </a:r>
            <a:endParaRPr b="0" lang="en-US" sz="1000" spc="-1" strike="noStrike">
              <a:solidFill>
                <a:srgbClr val="ffffff"/>
              </a:solidFill>
              <a:latin typeface="Arial"/>
            </a:endParaRPr>
          </a:p>
        </p:txBody>
      </p:sp>
      <p:sp>
        <p:nvSpPr>
          <p:cNvPr id="285" name="Shape 10"/>
          <p:cNvSpPr/>
          <p:nvPr/>
        </p:nvSpPr>
        <p:spPr>
          <a:xfrm>
            <a:off x="365760" y="2450520"/>
            <a:ext cx="383760" cy="3837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6" name="Text 11"/>
          <p:cNvSpPr/>
          <p:nvPr/>
        </p:nvSpPr>
        <p:spPr>
          <a:xfrm>
            <a:off x="365760" y="2450520"/>
            <a:ext cx="3837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2</a:t>
            </a:r>
            <a:endParaRPr b="0" lang="en-US" sz="1400" spc="-1" strike="noStrike">
              <a:solidFill>
                <a:srgbClr val="ffffff"/>
              </a:solidFill>
              <a:latin typeface="Arial"/>
            </a:endParaRPr>
          </a:p>
        </p:txBody>
      </p:sp>
      <p:sp>
        <p:nvSpPr>
          <p:cNvPr id="287" name="Shape 12"/>
          <p:cNvSpPr/>
          <p:nvPr/>
        </p:nvSpPr>
        <p:spPr>
          <a:xfrm>
            <a:off x="914400" y="2377440"/>
            <a:ext cx="7863480" cy="566640"/>
          </a:xfrm>
          <a:prstGeom prst="rect">
            <a:avLst/>
          </a:prstGeom>
          <a:solidFill>
            <a:srgbClr val="ffffff">
              <a:alpha val="12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8" name="Text 13"/>
          <p:cNvSpPr/>
          <p:nvPr/>
        </p:nvSpPr>
        <p:spPr>
          <a:xfrm>
            <a:off x="1051560" y="2414160"/>
            <a:ext cx="201132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Open the Browser</a:t>
            </a:r>
            <a:endParaRPr b="0" lang="en-US" sz="1200" spc="-1" strike="noStrike">
              <a:solidFill>
                <a:srgbClr val="ffffff"/>
              </a:solidFill>
              <a:latin typeface="Arial"/>
            </a:endParaRPr>
          </a:p>
        </p:txBody>
      </p:sp>
      <p:sp>
        <p:nvSpPr>
          <p:cNvPr id="289" name="Text 14"/>
          <p:cNvSpPr/>
          <p:nvPr/>
        </p:nvSpPr>
        <p:spPr>
          <a:xfrm>
            <a:off x="3108960" y="2395800"/>
            <a:ext cx="5577480" cy="529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cadcfc"/>
                </a:solidFill>
                <a:latin typeface="Calibri"/>
              </a:rPr>
              <a:t>Go to http://127.0.0.1:8000</a:t>
            </a:r>
            <a:endParaRPr b="0" lang="en-US" sz="1000" spc="-1" strike="noStrike">
              <a:solidFill>
                <a:srgbClr val="ffffff"/>
              </a:solidFill>
              <a:latin typeface="Arial"/>
            </a:endParaRPr>
          </a:p>
          <a:p>
            <a:pPr>
              <a:lnSpc>
                <a:spcPct val="100000"/>
              </a:lnSpc>
              <a:tabLst>
                <a:tab algn="l" pos="0"/>
              </a:tabLst>
            </a:pPr>
            <a:r>
              <a:rPr b="0" lang="en-US" sz="1000" spc="-1" strike="noStrike">
                <a:solidFill>
                  <a:srgbClr val="cadcfc"/>
                </a:solidFill>
                <a:latin typeface="Calibri"/>
              </a:rPr>
              <a:t>The web interface loads automatically</a:t>
            </a:r>
            <a:endParaRPr b="0" lang="en-US" sz="1000" spc="-1" strike="noStrike">
              <a:solidFill>
                <a:srgbClr val="ffffff"/>
              </a:solidFill>
              <a:latin typeface="Arial"/>
            </a:endParaRPr>
          </a:p>
        </p:txBody>
      </p:sp>
      <p:sp>
        <p:nvSpPr>
          <p:cNvPr id="290" name="Shape 15"/>
          <p:cNvSpPr/>
          <p:nvPr/>
        </p:nvSpPr>
        <p:spPr>
          <a:xfrm>
            <a:off x="365760" y="3108960"/>
            <a:ext cx="383760" cy="3837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1" name="Text 16"/>
          <p:cNvSpPr/>
          <p:nvPr/>
        </p:nvSpPr>
        <p:spPr>
          <a:xfrm>
            <a:off x="365760" y="3108960"/>
            <a:ext cx="3837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3</a:t>
            </a:r>
            <a:endParaRPr b="0" lang="en-US" sz="1400" spc="-1" strike="noStrike">
              <a:solidFill>
                <a:srgbClr val="ffffff"/>
              </a:solidFill>
              <a:latin typeface="Arial"/>
            </a:endParaRPr>
          </a:p>
        </p:txBody>
      </p:sp>
      <p:sp>
        <p:nvSpPr>
          <p:cNvPr id="292" name="Shape 17"/>
          <p:cNvSpPr/>
          <p:nvPr/>
        </p:nvSpPr>
        <p:spPr>
          <a:xfrm>
            <a:off x="914400" y="3035880"/>
            <a:ext cx="7863480" cy="566640"/>
          </a:xfrm>
          <a:prstGeom prst="rect">
            <a:avLst/>
          </a:prstGeom>
          <a:solidFill>
            <a:srgbClr val="ffffff">
              <a:alpha val="12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3" name="Text 18"/>
          <p:cNvSpPr/>
          <p:nvPr/>
        </p:nvSpPr>
        <p:spPr>
          <a:xfrm>
            <a:off x="1051560" y="3072240"/>
            <a:ext cx="201132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Webcam Test</a:t>
            </a:r>
            <a:endParaRPr b="0" lang="en-US" sz="1200" spc="-1" strike="noStrike">
              <a:solidFill>
                <a:srgbClr val="ffffff"/>
              </a:solidFill>
              <a:latin typeface="Arial"/>
            </a:endParaRPr>
          </a:p>
        </p:txBody>
      </p:sp>
      <p:sp>
        <p:nvSpPr>
          <p:cNvPr id="294" name="Text 19"/>
          <p:cNvSpPr/>
          <p:nvPr/>
        </p:nvSpPr>
        <p:spPr>
          <a:xfrm>
            <a:off x="3108960" y="3054240"/>
            <a:ext cx="5577480" cy="529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cadcfc"/>
                </a:solidFill>
                <a:latin typeface="Calibri"/>
              </a:rPr>
              <a:t>Allow camera access when prompted</a:t>
            </a:r>
            <a:endParaRPr b="0" lang="en-US" sz="1000" spc="-1" strike="noStrike">
              <a:solidFill>
                <a:srgbClr val="ffffff"/>
              </a:solidFill>
              <a:latin typeface="Arial"/>
            </a:endParaRPr>
          </a:p>
          <a:p>
            <a:pPr>
              <a:lnSpc>
                <a:spcPct val="100000"/>
              </a:lnSpc>
              <a:tabLst>
                <a:tab algn="l" pos="0"/>
              </a:tabLst>
            </a:pPr>
            <a:r>
              <a:rPr b="0" lang="en-US" sz="1000" spc="-1" strike="noStrike">
                <a:solidFill>
                  <a:srgbClr val="cadcfc"/>
                </a:solidFill>
                <a:latin typeface="Calibri"/>
              </a:rPr>
              <a:t>Click [Capture &amp; Predict] — see result instantly</a:t>
            </a:r>
            <a:endParaRPr b="0" lang="en-US" sz="1000" spc="-1" strike="noStrike">
              <a:solidFill>
                <a:srgbClr val="ffffff"/>
              </a:solidFill>
              <a:latin typeface="Arial"/>
            </a:endParaRPr>
          </a:p>
        </p:txBody>
      </p:sp>
      <p:sp>
        <p:nvSpPr>
          <p:cNvPr id="295" name="Shape 20"/>
          <p:cNvSpPr/>
          <p:nvPr/>
        </p:nvSpPr>
        <p:spPr>
          <a:xfrm>
            <a:off x="365760" y="3767400"/>
            <a:ext cx="383760" cy="3837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6" name="Text 21"/>
          <p:cNvSpPr/>
          <p:nvPr/>
        </p:nvSpPr>
        <p:spPr>
          <a:xfrm>
            <a:off x="365760" y="3767400"/>
            <a:ext cx="3837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4</a:t>
            </a:r>
            <a:endParaRPr b="0" lang="en-US" sz="1400" spc="-1" strike="noStrike">
              <a:solidFill>
                <a:srgbClr val="ffffff"/>
              </a:solidFill>
              <a:latin typeface="Arial"/>
            </a:endParaRPr>
          </a:p>
        </p:txBody>
      </p:sp>
      <p:sp>
        <p:nvSpPr>
          <p:cNvPr id="297" name="Shape 22"/>
          <p:cNvSpPr/>
          <p:nvPr/>
        </p:nvSpPr>
        <p:spPr>
          <a:xfrm>
            <a:off x="914400" y="3694320"/>
            <a:ext cx="7863480" cy="566640"/>
          </a:xfrm>
          <a:prstGeom prst="rect">
            <a:avLst/>
          </a:prstGeom>
          <a:solidFill>
            <a:srgbClr val="ffffff">
              <a:alpha val="12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8" name="Text 23"/>
          <p:cNvSpPr/>
          <p:nvPr/>
        </p:nvSpPr>
        <p:spPr>
          <a:xfrm>
            <a:off x="1051560" y="3730680"/>
            <a:ext cx="201132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Upload Test</a:t>
            </a:r>
            <a:endParaRPr b="0" lang="en-US" sz="1200" spc="-1" strike="noStrike">
              <a:solidFill>
                <a:srgbClr val="ffffff"/>
              </a:solidFill>
              <a:latin typeface="Arial"/>
            </a:endParaRPr>
          </a:p>
        </p:txBody>
      </p:sp>
      <p:sp>
        <p:nvSpPr>
          <p:cNvPr id="299" name="Text 24"/>
          <p:cNvSpPr/>
          <p:nvPr/>
        </p:nvSpPr>
        <p:spPr>
          <a:xfrm>
            <a:off x="3108960" y="3712320"/>
            <a:ext cx="5577480" cy="529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cadcfc"/>
                </a:solidFill>
                <a:latin typeface="Calibri"/>
              </a:rPr>
              <a:t>Click [Upload &amp; Predict] and choose a photo</a:t>
            </a:r>
            <a:endParaRPr b="0" lang="en-US" sz="1000" spc="-1" strike="noStrike">
              <a:solidFill>
                <a:srgbClr val="ffffff"/>
              </a:solidFill>
              <a:latin typeface="Arial"/>
            </a:endParaRPr>
          </a:p>
          <a:p>
            <a:pPr>
              <a:lnSpc>
                <a:spcPct val="100000"/>
              </a:lnSpc>
              <a:tabLst>
                <a:tab algn="l" pos="0"/>
              </a:tabLst>
            </a:pPr>
            <a:r>
              <a:rPr b="0" lang="en-US" sz="1000" spc="-1" strike="noStrike">
                <a:solidFill>
                  <a:srgbClr val="cadcfc"/>
                </a:solidFill>
                <a:latin typeface="Calibri"/>
              </a:rPr>
              <a:t>Test with masked and unmasked faces</a:t>
            </a:r>
            <a:endParaRPr b="0" lang="en-US" sz="1000" spc="-1" strike="noStrike">
              <a:solidFill>
                <a:srgbClr val="ffffff"/>
              </a:solidFill>
              <a:latin typeface="Arial"/>
            </a:endParaRPr>
          </a:p>
        </p:txBody>
      </p:sp>
      <p:sp>
        <p:nvSpPr>
          <p:cNvPr id="300" name="Shape 25"/>
          <p:cNvSpPr/>
          <p:nvPr/>
        </p:nvSpPr>
        <p:spPr>
          <a:xfrm>
            <a:off x="365760" y="4425840"/>
            <a:ext cx="383760" cy="383760"/>
          </a:xfrm>
          <a:prstGeom prst="ellipse">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1" name="Text 26"/>
          <p:cNvSpPr/>
          <p:nvPr/>
        </p:nvSpPr>
        <p:spPr>
          <a:xfrm>
            <a:off x="365760" y="4425840"/>
            <a:ext cx="383760" cy="3837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ffffff"/>
                </a:solidFill>
                <a:latin typeface="Calibri"/>
              </a:rPr>
              <a:t>5</a:t>
            </a:r>
            <a:endParaRPr b="0" lang="en-US" sz="1400" spc="-1" strike="noStrike">
              <a:solidFill>
                <a:srgbClr val="ffffff"/>
              </a:solidFill>
              <a:latin typeface="Arial"/>
            </a:endParaRPr>
          </a:p>
        </p:txBody>
      </p:sp>
      <p:sp>
        <p:nvSpPr>
          <p:cNvPr id="302" name="Shape 27"/>
          <p:cNvSpPr/>
          <p:nvPr/>
        </p:nvSpPr>
        <p:spPr>
          <a:xfrm>
            <a:off x="914400" y="4352400"/>
            <a:ext cx="7863480" cy="566640"/>
          </a:xfrm>
          <a:prstGeom prst="rect">
            <a:avLst/>
          </a:prstGeom>
          <a:solidFill>
            <a:srgbClr val="ffffff">
              <a:alpha val="12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3" name="Text 28"/>
          <p:cNvSpPr/>
          <p:nvPr/>
        </p:nvSpPr>
        <p:spPr>
          <a:xfrm>
            <a:off x="1051560" y="4389120"/>
            <a:ext cx="2011320" cy="255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200" spc="-1" strike="noStrike">
                <a:solidFill>
                  <a:srgbClr val="ffffff"/>
                </a:solidFill>
                <a:latin typeface="Calibri"/>
              </a:rPr>
              <a:t>Show the Response</a:t>
            </a:r>
            <a:endParaRPr b="0" lang="en-US" sz="1200" spc="-1" strike="noStrike">
              <a:solidFill>
                <a:srgbClr val="ffffff"/>
              </a:solidFill>
              <a:latin typeface="Arial"/>
            </a:endParaRPr>
          </a:p>
        </p:txBody>
      </p:sp>
      <p:sp>
        <p:nvSpPr>
          <p:cNvPr id="304" name="Text 29"/>
          <p:cNvSpPr/>
          <p:nvPr/>
        </p:nvSpPr>
        <p:spPr>
          <a:xfrm>
            <a:off x="3108960" y="4370760"/>
            <a:ext cx="5577480" cy="529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000" spc="-1" strike="noStrike">
                <a:solidFill>
                  <a:srgbClr val="cadcfc"/>
                </a:solidFill>
                <a:latin typeface="Calibri"/>
              </a:rPr>
              <a:t>Point to: Status / Action / Confidence on screen</a:t>
            </a:r>
            <a:endParaRPr b="0" lang="en-US" sz="1000" spc="-1" strike="noStrike">
              <a:solidFill>
                <a:srgbClr val="ffffff"/>
              </a:solidFill>
              <a:latin typeface="Arial"/>
            </a:endParaRPr>
          </a:p>
          <a:p>
            <a:pPr>
              <a:lnSpc>
                <a:spcPct val="100000"/>
              </a:lnSpc>
              <a:tabLst>
                <a:tab algn="l" pos="0"/>
              </a:tabLst>
            </a:pPr>
            <a:r>
              <a:rPr b="0" lang="en-US" sz="1000" spc="-1" strike="noStrike">
                <a:solidFill>
                  <a:srgbClr val="cadcfc"/>
                </a:solidFill>
                <a:latin typeface="Calibri"/>
              </a:rPr>
              <a:t>Explain what each field means</a:t>
            </a:r>
            <a:endParaRPr b="0" lang="en-US" sz="1000" spc="-1" strike="noStrike">
              <a:solidFill>
                <a:srgbClr val="ffffff"/>
              </a:solidFill>
              <a:latin typeface="Arial"/>
            </a:endParaRPr>
          </a:p>
        </p:txBody>
      </p:sp>
      <p:sp>
        <p:nvSpPr>
          <p:cNvPr id="305" name="Shape 30"/>
          <p:cNvSpPr/>
          <p:nvPr/>
        </p:nvSpPr>
        <p:spPr>
          <a:xfrm>
            <a:off x="0" y="4873680"/>
            <a:ext cx="9143640" cy="27396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6" name="Text 31"/>
          <p:cNvSpPr/>
          <p:nvPr/>
        </p:nvSpPr>
        <p:spPr>
          <a:xfrm>
            <a:off x="0" y="4873680"/>
            <a:ext cx="91436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000" spc="-1" strike="noStrike">
                <a:solidFill>
                  <a:srgbClr val="ffffff"/>
                </a:solidFill>
                <a:latin typeface="Calibri"/>
              </a:rPr>
              <a:t>Expected:  status: mask_on / mask_off   |   action: Allow entry / Deny entry   |   confidence: 0.XX</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307" name="Shape 0"/>
          <p:cNvSpPr/>
          <p:nvPr/>
        </p:nvSpPr>
        <p:spPr>
          <a:xfrm>
            <a:off x="0" y="0"/>
            <a:ext cx="9143640" cy="72720"/>
          </a:xfrm>
          <a:prstGeom prst="rect">
            <a:avLst/>
          </a:prstGeom>
          <a:solidFill>
            <a:srgbClr val="4a90d9"/>
          </a:solidFill>
          <a:ln w="12700">
            <a:solidFill>
              <a:srgbClr val="4a90d9"/>
            </a:solidFill>
            <a:round/>
          </a:ln>
        </p:spPr>
        <p:style>
          <a:lnRef idx="0"/>
          <a:fillRef idx="0"/>
          <a:effectRef idx="0"/>
          <a:fontRef idx="minor"/>
        </p:style>
        <p:txBody>
          <a:bodyPr lIns="90000" rIns="90000" tIns="90000" bIns="90000" anchor="t">
            <a:noAutofit/>
          </a:bodyPr>
          <a:p>
            <a:endParaRPr b="0" lang="en-US" sz="1800" spc="-1" strike="noStrike">
              <a:solidFill>
                <a:srgbClr val="000000"/>
              </a:solidFill>
              <a:latin typeface="Arial"/>
            </a:endParaRPr>
          </a:p>
        </p:txBody>
      </p:sp>
      <p:sp>
        <p:nvSpPr>
          <p:cNvPr id="308" name="Text 1"/>
          <p:cNvSpPr/>
          <p:nvPr/>
        </p:nvSpPr>
        <p:spPr>
          <a:xfrm>
            <a:off x="457200" y="274320"/>
            <a:ext cx="8229240" cy="6397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3200" spc="-1" strike="noStrike">
                <a:solidFill>
                  <a:srgbClr val="ffffff"/>
                </a:solidFill>
                <a:latin typeface="Calibri"/>
              </a:rPr>
              <a:t>Project Summary</a:t>
            </a:r>
            <a:endParaRPr b="0" lang="en-US" sz="3200" spc="-1" strike="noStrike">
              <a:solidFill>
                <a:srgbClr val="ffffff"/>
              </a:solidFill>
              <a:latin typeface="Arial"/>
            </a:endParaRPr>
          </a:p>
        </p:txBody>
      </p:sp>
      <p:sp>
        <p:nvSpPr>
          <p:cNvPr id="309" name="Shape 2"/>
          <p:cNvSpPr/>
          <p:nvPr/>
        </p:nvSpPr>
        <p:spPr>
          <a:xfrm>
            <a:off x="365760" y="109728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0" name="Shape 3"/>
          <p:cNvSpPr/>
          <p:nvPr/>
        </p:nvSpPr>
        <p:spPr>
          <a:xfrm>
            <a:off x="365760" y="109728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1" name="Text 4"/>
          <p:cNvSpPr/>
          <p:nvPr/>
        </p:nvSpPr>
        <p:spPr>
          <a:xfrm>
            <a:off x="548640" y="114300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EDA Notebook</a:t>
            </a:r>
            <a:endParaRPr b="0" lang="en-US" sz="1300" spc="-1" strike="noStrike">
              <a:solidFill>
                <a:srgbClr val="ffffff"/>
              </a:solidFill>
              <a:latin typeface="Arial"/>
            </a:endParaRPr>
          </a:p>
        </p:txBody>
      </p:sp>
      <p:sp>
        <p:nvSpPr>
          <p:cNvPr id="312" name="Text 5"/>
          <p:cNvSpPr/>
          <p:nvPr/>
        </p:nvSpPr>
        <p:spPr>
          <a:xfrm>
            <a:off x="548640" y="143568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4 visualizations: class dist., samples, brightness, STD quality analysis</a:t>
            </a:r>
            <a:endParaRPr b="0" lang="en-US" sz="1100" spc="-1" strike="noStrike">
              <a:solidFill>
                <a:srgbClr val="ffffff"/>
              </a:solidFill>
              <a:latin typeface="Arial"/>
            </a:endParaRPr>
          </a:p>
        </p:txBody>
      </p:sp>
      <p:sp>
        <p:nvSpPr>
          <p:cNvPr id="313" name="Shape 6"/>
          <p:cNvSpPr/>
          <p:nvPr/>
        </p:nvSpPr>
        <p:spPr>
          <a:xfrm>
            <a:off x="365760" y="196596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4" name="Shape 7"/>
          <p:cNvSpPr/>
          <p:nvPr/>
        </p:nvSpPr>
        <p:spPr>
          <a:xfrm>
            <a:off x="365760" y="196596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5" name="Text 8"/>
          <p:cNvSpPr/>
          <p:nvPr/>
        </p:nvSpPr>
        <p:spPr>
          <a:xfrm>
            <a:off x="548640" y="201168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Trained Model</a:t>
            </a:r>
            <a:endParaRPr b="0" lang="en-US" sz="1300" spc="-1" strike="noStrike">
              <a:solidFill>
                <a:srgbClr val="ffffff"/>
              </a:solidFill>
              <a:latin typeface="Arial"/>
            </a:endParaRPr>
          </a:p>
        </p:txBody>
      </p:sp>
      <p:sp>
        <p:nvSpPr>
          <p:cNvPr id="316" name="Text 9"/>
          <p:cNvSpPr/>
          <p:nvPr/>
        </p:nvSpPr>
        <p:spPr>
          <a:xfrm>
            <a:off x="548640" y="230436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MobileNetV2 — mask_detector.pth</a:t>
            </a:r>
            <a:endParaRPr b="0" lang="en-US" sz="1100" spc="-1" strike="noStrike">
              <a:solidFill>
                <a:srgbClr val="ffffff"/>
              </a:solidFill>
              <a:latin typeface="Arial"/>
            </a:endParaRPr>
          </a:p>
        </p:txBody>
      </p:sp>
      <p:sp>
        <p:nvSpPr>
          <p:cNvPr id="317" name="Shape 10"/>
          <p:cNvSpPr/>
          <p:nvPr/>
        </p:nvSpPr>
        <p:spPr>
          <a:xfrm>
            <a:off x="365760" y="283464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8" name="Shape 11"/>
          <p:cNvSpPr/>
          <p:nvPr/>
        </p:nvSpPr>
        <p:spPr>
          <a:xfrm>
            <a:off x="365760" y="283464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9" name="Text 12"/>
          <p:cNvSpPr/>
          <p:nvPr/>
        </p:nvSpPr>
        <p:spPr>
          <a:xfrm>
            <a:off x="548640" y="288036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Training Report</a:t>
            </a:r>
            <a:endParaRPr b="0" lang="en-US" sz="1300" spc="-1" strike="noStrike">
              <a:solidFill>
                <a:srgbClr val="ffffff"/>
              </a:solidFill>
              <a:latin typeface="Arial"/>
            </a:endParaRPr>
          </a:p>
        </p:txBody>
      </p:sp>
      <p:sp>
        <p:nvSpPr>
          <p:cNvPr id="320" name="Text 13"/>
          <p:cNvSpPr/>
          <p:nvPr/>
        </p:nvSpPr>
        <p:spPr>
          <a:xfrm>
            <a:off x="548640" y="317304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Loss/accuracy curves, early stopping</a:t>
            </a:r>
            <a:endParaRPr b="0" lang="en-US" sz="1100" spc="-1" strike="noStrike">
              <a:solidFill>
                <a:srgbClr val="ffffff"/>
              </a:solidFill>
              <a:latin typeface="Arial"/>
            </a:endParaRPr>
          </a:p>
        </p:txBody>
      </p:sp>
      <p:sp>
        <p:nvSpPr>
          <p:cNvPr id="321" name="Shape 14"/>
          <p:cNvSpPr/>
          <p:nvPr/>
        </p:nvSpPr>
        <p:spPr>
          <a:xfrm>
            <a:off x="365760" y="370332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Shape 15"/>
          <p:cNvSpPr/>
          <p:nvPr/>
        </p:nvSpPr>
        <p:spPr>
          <a:xfrm>
            <a:off x="365760" y="370332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3" name="Text 16"/>
          <p:cNvSpPr/>
          <p:nvPr/>
        </p:nvSpPr>
        <p:spPr>
          <a:xfrm>
            <a:off x="548640" y="374904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Evaluation</a:t>
            </a:r>
            <a:endParaRPr b="0" lang="en-US" sz="1300" spc="-1" strike="noStrike">
              <a:solidFill>
                <a:srgbClr val="ffffff"/>
              </a:solidFill>
              <a:latin typeface="Arial"/>
            </a:endParaRPr>
          </a:p>
        </p:txBody>
      </p:sp>
      <p:sp>
        <p:nvSpPr>
          <p:cNvPr id="324" name="Text 17"/>
          <p:cNvSpPr/>
          <p:nvPr/>
        </p:nvSpPr>
        <p:spPr>
          <a:xfrm>
            <a:off x="548640" y="404172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Confusion matrix, F1, per-class metrics</a:t>
            </a:r>
            <a:endParaRPr b="0" lang="en-US" sz="1100" spc="-1" strike="noStrike">
              <a:solidFill>
                <a:srgbClr val="ffffff"/>
              </a:solidFill>
              <a:latin typeface="Arial"/>
            </a:endParaRPr>
          </a:p>
        </p:txBody>
      </p:sp>
      <p:sp>
        <p:nvSpPr>
          <p:cNvPr id="325" name="Shape 18"/>
          <p:cNvSpPr/>
          <p:nvPr/>
        </p:nvSpPr>
        <p:spPr>
          <a:xfrm>
            <a:off x="4846320" y="109728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6" name="Shape 19"/>
          <p:cNvSpPr/>
          <p:nvPr/>
        </p:nvSpPr>
        <p:spPr>
          <a:xfrm>
            <a:off x="4846320" y="109728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7" name="Text 20"/>
          <p:cNvSpPr/>
          <p:nvPr/>
        </p:nvSpPr>
        <p:spPr>
          <a:xfrm>
            <a:off x="5029200" y="114300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FastAPI App</a:t>
            </a:r>
            <a:endParaRPr b="0" lang="en-US" sz="1300" spc="-1" strike="noStrike">
              <a:solidFill>
                <a:srgbClr val="ffffff"/>
              </a:solidFill>
              <a:latin typeface="Arial"/>
            </a:endParaRPr>
          </a:p>
        </p:txBody>
      </p:sp>
      <p:sp>
        <p:nvSpPr>
          <p:cNvPr id="328" name="Text 21"/>
          <p:cNvSpPr/>
          <p:nvPr/>
        </p:nvSpPr>
        <p:spPr>
          <a:xfrm>
            <a:off x="5029200" y="143568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/predict — status + action + confidence</a:t>
            </a:r>
            <a:endParaRPr b="0" lang="en-US" sz="1100" spc="-1" strike="noStrike">
              <a:solidFill>
                <a:srgbClr val="ffffff"/>
              </a:solidFill>
              <a:latin typeface="Arial"/>
            </a:endParaRPr>
          </a:p>
        </p:txBody>
      </p:sp>
      <p:sp>
        <p:nvSpPr>
          <p:cNvPr id="329" name="Shape 22"/>
          <p:cNvSpPr/>
          <p:nvPr/>
        </p:nvSpPr>
        <p:spPr>
          <a:xfrm>
            <a:off x="4846320" y="196596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0" name="Shape 23"/>
          <p:cNvSpPr/>
          <p:nvPr/>
        </p:nvSpPr>
        <p:spPr>
          <a:xfrm>
            <a:off x="4846320" y="196596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1" name="Text 24"/>
          <p:cNvSpPr/>
          <p:nvPr/>
        </p:nvSpPr>
        <p:spPr>
          <a:xfrm>
            <a:off x="5029200" y="201168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Dockerfile</a:t>
            </a:r>
            <a:endParaRPr b="0" lang="en-US" sz="1300" spc="-1" strike="noStrike">
              <a:solidFill>
                <a:srgbClr val="ffffff"/>
              </a:solidFill>
              <a:latin typeface="Arial"/>
            </a:endParaRPr>
          </a:p>
        </p:txBody>
      </p:sp>
      <p:sp>
        <p:nvSpPr>
          <p:cNvPr id="332" name="Text 25"/>
          <p:cNvSpPr/>
          <p:nvPr/>
        </p:nvSpPr>
        <p:spPr>
          <a:xfrm>
            <a:off x="5029200" y="230436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Containerized, runs on port 8000</a:t>
            </a:r>
            <a:endParaRPr b="0" lang="en-US" sz="1100" spc="-1" strike="noStrike">
              <a:solidFill>
                <a:srgbClr val="ffffff"/>
              </a:solidFill>
              <a:latin typeface="Arial"/>
            </a:endParaRPr>
          </a:p>
        </p:txBody>
      </p:sp>
      <p:sp>
        <p:nvSpPr>
          <p:cNvPr id="333" name="Shape 26"/>
          <p:cNvSpPr/>
          <p:nvPr/>
        </p:nvSpPr>
        <p:spPr>
          <a:xfrm>
            <a:off x="4846320" y="2834640"/>
            <a:ext cx="3931560" cy="712800"/>
          </a:xfrm>
          <a:prstGeom prst="rect">
            <a:avLst/>
          </a:prstGeom>
          <a:solidFill>
            <a:srgbClr val="ffffff">
              <a:alpha val="10000"/>
            </a:srgbClr>
          </a:solidFill>
          <a:ln w="12700">
            <a:solidFill>
              <a:srgbClr val="cadcf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4" name="Shape 27"/>
          <p:cNvSpPr/>
          <p:nvPr/>
        </p:nvSpPr>
        <p:spPr>
          <a:xfrm>
            <a:off x="4846320" y="2834640"/>
            <a:ext cx="54360" cy="7128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5" name="Text 28"/>
          <p:cNvSpPr/>
          <p:nvPr/>
        </p:nvSpPr>
        <p:spPr>
          <a:xfrm>
            <a:off x="5029200" y="2880360"/>
            <a:ext cx="36572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ffffff"/>
                </a:solidFill>
                <a:latin typeface="Calibri"/>
              </a:rPr>
              <a:t>Test Script</a:t>
            </a:r>
            <a:endParaRPr b="0" lang="en-US" sz="1300" spc="-1" strike="noStrike">
              <a:solidFill>
                <a:srgbClr val="ffffff"/>
              </a:solidFill>
              <a:latin typeface="Arial"/>
            </a:endParaRPr>
          </a:p>
        </p:txBody>
      </p:sp>
      <p:sp>
        <p:nvSpPr>
          <p:cNvPr id="336" name="Text 29"/>
          <p:cNvSpPr/>
          <p:nvPr/>
        </p:nvSpPr>
        <p:spPr>
          <a:xfrm>
            <a:off x="5029200" y="3173040"/>
            <a:ext cx="36572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cadcfc"/>
                </a:solidFill>
                <a:latin typeface="Calibri"/>
              </a:rPr>
              <a:t>test_api.py — 18/18 passed  |  Real-World Testing data/</a:t>
            </a:r>
            <a:endParaRPr b="0" lang="en-US" sz="1100" spc="-1" strike="noStrike">
              <a:solidFill>
                <a:srgbClr val="ffffff"/>
              </a:solidFill>
              <a:latin typeface="Arial"/>
            </a:endParaRPr>
          </a:p>
        </p:txBody>
      </p:sp>
      <p:sp>
        <p:nvSpPr>
          <p:cNvPr id="337" name="Shape 30"/>
          <p:cNvSpPr/>
          <p:nvPr/>
        </p:nvSpPr>
        <p:spPr>
          <a:xfrm>
            <a:off x="0" y="4846320"/>
            <a:ext cx="9143640" cy="297000"/>
          </a:xfrm>
          <a:prstGeom prst="rect">
            <a:avLst/>
          </a:prstGeom>
          <a:solidFill>
            <a:srgbClr val="4a90d9"/>
          </a:solidFill>
          <a:ln w="12700">
            <a:solidFill>
              <a:srgbClr val="4a90d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8" name="Text 31"/>
          <p:cNvSpPr/>
          <p:nvPr/>
        </p:nvSpPr>
        <p:spPr>
          <a:xfrm>
            <a:off x="0" y="4846320"/>
            <a:ext cx="9143640" cy="297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200" spc="-1" strike="noStrike">
                <a:solidFill>
                  <a:srgbClr val="ffffff"/>
                </a:solidFill>
                <a:latin typeface="Calibri"/>
              </a:rPr>
              <a:t>MobileNetV2  |  Transfer Learning  |  12,000 Images  |  FastAPI  |  Docker  |  &gt;90% Accuracy</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MtscOffice/7.4.2.3$Windows_X86_64 LibreOffice_project/382eef1f22670f7f4118c8c2dd222ec7ad009daf</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2026-05-10T12:48:26Z</dcterms:created>
  <dc:creator>PptxGenJS</dc:creator>
  <dc:description/>
  <dc:language>en-US</dc:language>
  <cp:lastModifiedBy/>
  <dcterms:modified xsi:type="dcterms:W3CDTF">2026-05-10T16:02:37Z</dcterms:modified>
  <cp:revision>2</cp:revision>
  <dc:subject>PptxGenJS Presentation</dc:subject>
  <dc:title>Face Mask Detection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